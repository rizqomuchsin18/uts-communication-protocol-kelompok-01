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004232" y="2015966"/>
            <a:ext cx="6255068" cy="6255068"/>
          </a:xfrm>
          <a:custGeom>
            <a:avLst/>
            <a:gdLst/>
            <a:ahLst/>
            <a:cxnLst/>
            <a:rect r="r" b="b" t="t" l="l"/>
            <a:pathLst>
              <a:path h="6255068" w="6255068">
                <a:moveTo>
                  <a:pt x="0" y="0"/>
                </a:moveTo>
                <a:lnTo>
                  <a:pt x="6255068" y="0"/>
                </a:lnTo>
                <a:lnTo>
                  <a:pt x="6255068" y="6255068"/>
                </a:lnTo>
                <a:lnTo>
                  <a:pt x="0" y="62550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60343" y="9889125"/>
            <a:ext cx="19408687" cy="996493"/>
            <a:chOff x="0" y="0"/>
            <a:chExt cx="5111753" cy="262451"/>
          </a:xfrm>
        </p:grpSpPr>
        <p:sp>
          <p:nvSpPr>
            <p:cNvPr name="Freeform 5" id="5"/>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6" id="6"/>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028700" y="1028700"/>
            <a:ext cx="642386" cy="729984"/>
          </a:xfrm>
          <a:custGeom>
            <a:avLst/>
            <a:gdLst/>
            <a:ahLst/>
            <a:cxnLst/>
            <a:rect r="r" b="b" t="t" l="l"/>
            <a:pathLst>
              <a:path h="729984" w="642386">
                <a:moveTo>
                  <a:pt x="0" y="0"/>
                </a:moveTo>
                <a:lnTo>
                  <a:pt x="642386" y="0"/>
                </a:lnTo>
                <a:lnTo>
                  <a:pt x="642386" y="729984"/>
                </a:lnTo>
                <a:lnTo>
                  <a:pt x="0" y="7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28700" y="2289888"/>
            <a:ext cx="10536062" cy="3328653"/>
          </a:xfrm>
          <a:prstGeom prst="rect">
            <a:avLst/>
          </a:prstGeom>
        </p:spPr>
        <p:txBody>
          <a:bodyPr anchor="t" rtlCol="false" tIns="0" lIns="0" bIns="0" rIns="0">
            <a:spAutoFit/>
          </a:bodyPr>
          <a:lstStyle/>
          <a:p>
            <a:pPr algn="just">
              <a:lnSpc>
                <a:spcPts val="6580"/>
              </a:lnSpc>
              <a:spcBef>
                <a:spcPct val="0"/>
              </a:spcBef>
            </a:pPr>
            <a:r>
              <a:rPr lang="en-US" b="true" sz="4700">
                <a:solidFill>
                  <a:srgbClr val="FFFFFF"/>
                </a:solidFill>
                <a:latin typeface="Poppins Bold"/>
                <a:ea typeface="Poppins Bold"/>
                <a:cs typeface="Poppins Bold"/>
                <a:sym typeface="Poppins Bold"/>
              </a:rPr>
              <a:t>Analisis Komunikasi Client-Server melalui REST API Menggunakan HTTP, Packet Capture, dan Data Parsing.</a:t>
            </a:r>
          </a:p>
        </p:txBody>
      </p:sp>
      <p:grpSp>
        <p:nvGrpSpPr>
          <p:cNvPr name="Group 9" id="9"/>
          <p:cNvGrpSpPr/>
          <p:nvPr/>
        </p:nvGrpSpPr>
        <p:grpSpPr>
          <a:xfrm rot="0">
            <a:off x="1028700" y="6460761"/>
            <a:ext cx="6947174" cy="1438812"/>
            <a:chOff x="0" y="0"/>
            <a:chExt cx="9262899" cy="1918415"/>
          </a:xfrm>
        </p:grpSpPr>
        <p:grpSp>
          <p:nvGrpSpPr>
            <p:cNvPr name="Group 10" id="10"/>
            <p:cNvGrpSpPr/>
            <p:nvPr/>
          </p:nvGrpSpPr>
          <p:grpSpPr>
            <a:xfrm rot="0">
              <a:off x="0" y="0"/>
              <a:ext cx="9262899" cy="1918415"/>
              <a:chOff x="0" y="0"/>
              <a:chExt cx="1829708" cy="378946"/>
            </a:xfrm>
          </p:grpSpPr>
          <p:sp>
            <p:nvSpPr>
              <p:cNvPr name="Freeform 11" id="11"/>
              <p:cNvSpPr/>
              <p:nvPr/>
            </p:nvSpPr>
            <p:spPr>
              <a:xfrm flipH="false" flipV="false" rot="0">
                <a:off x="0" y="0"/>
                <a:ext cx="1829708" cy="378946"/>
              </a:xfrm>
              <a:custGeom>
                <a:avLst/>
                <a:gdLst/>
                <a:ahLst/>
                <a:cxnLst/>
                <a:rect r="r" b="b" t="t" l="l"/>
                <a:pathLst>
                  <a:path h="378946" w="1829708">
                    <a:moveTo>
                      <a:pt x="111440" y="0"/>
                    </a:moveTo>
                    <a:lnTo>
                      <a:pt x="1718269" y="0"/>
                    </a:lnTo>
                    <a:cubicBezTo>
                      <a:pt x="1779815" y="0"/>
                      <a:pt x="1829708" y="49893"/>
                      <a:pt x="1829708" y="111440"/>
                    </a:cubicBezTo>
                    <a:lnTo>
                      <a:pt x="1829708" y="267506"/>
                    </a:lnTo>
                    <a:cubicBezTo>
                      <a:pt x="1829708" y="297062"/>
                      <a:pt x="1817968" y="325407"/>
                      <a:pt x="1797068" y="346306"/>
                    </a:cubicBezTo>
                    <a:cubicBezTo>
                      <a:pt x="1776169" y="367205"/>
                      <a:pt x="1747824" y="378946"/>
                      <a:pt x="1718269" y="378946"/>
                    </a:cubicBezTo>
                    <a:lnTo>
                      <a:pt x="111440" y="378946"/>
                    </a:lnTo>
                    <a:cubicBezTo>
                      <a:pt x="81884" y="378946"/>
                      <a:pt x="53539" y="367205"/>
                      <a:pt x="32640" y="346306"/>
                    </a:cubicBezTo>
                    <a:cubicBezTo>
                      <a:pt x="11741" y="325407"/>
                      <a:pt x="0" y="297062"/>
                      <a:pt x="0" y="267506"/>
                    </a:cubicBezTo>
                    <a:lnTo>
                      <a:pt x="0" y="111440"/>
                    </a:lnTo>
                    <a:cubicBezTo>
                      <a:pt x="0" y="81884"/>
                      <a:pt x="11741" y="53539"/>
                      <a:pt x="32640" y="32640"/>
                    </a:cubicBezTo>
                    <a:cubicBezTo>
                      <a:pt x="53539" y="11741"/>
                      <a:pt x="81884" y="0"/>
                      <a:pt x="111440" y="0"/>
                    </a:cubicBezTo>
                    <a:close/>
                  </a:path>
                </a:pathLst>
              </a:custGeom>
              <a:ln w="85725" cap="rnd">
                <a:solidFill>
                  <a:srgbClr val="5CA3B2"/>
                </a:solidFill>
                <a:prstDash val="solid"/>
                <a:round/>
              </a:ln>
            </p:spPr>
          </p:sp>
          <p:sp>
            <p:nvSpPr>
              <p:cNvPr name="TextBox 12" id="12"/>
              <p:cNvSpPr txBox="true"/>
              <p:nvPr/>
            </p:nvSpPr>
            <p:spPr>
              <a:xfrm>
                <a:off x="0" y="-57150"/>
                <a:ext cx="1829708" cy="436096"/>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574308" y="500949"/>
              <a:ext cx="8114284" cy="811742"/>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Poppins"/>
                  <a:ea typeface="Poppins"/>
                  <a:cs typeface="Poppins"/>
                  <a:sym typeface="Poppins"/>
                </a:rPr>
                <a:t>Kelompok 1</a:t>
              </a:r>
            </a:p>
          </p:txBody>
        </p:sp>
      </p:grpSp>
      <p:sp>
        <p:nvSpPr>
          <p:cNvPr name="TextBox 14" id="14"/>
          <p:cNvSpPr txBox="true"/>
          <p:nvPr/>
        </p:nvSpPr>
        <p:spPr>
          <a:xfrm rot="0">
            <a:off x="1207859" y="1139692"/>
            <a:ext cx="3037713" cy="441325"/>
          </a:xfrm>
          <a:prstGeom prst="rect">
            <a:avLst/>
          </a:prstGeom>
        </p:spPr>
        <p:txBody>
          <a:bodyPr anchor="t" rtlCol="false" tIns="0" lIns="0" bIns="0" rIns="0">
            <a:spAutoFit/>
          </a:bodyPr>
          <a:lstStyle/>
          <a:p>
            <a:pPr algn="r">
              <a:lnSpc>
                <a:spcPts val="3499"/>
              </a:lnSpc>
              <a:spcBef>
                <a:spcPct val="0"/>
              </a:spcBef>
            </a:pPr>
            <a:r>
              <a:rPr lang="en-US" sz="2499">
                <a:solidFill>
                  <a:srgbClr val="FFFFFF"/>
                </a:solidFill>
                <a:latin typeface="Poppins"/>
                <a:ea typeface="Poppins"/>
                <a:cs typeface="Poppins"/>
                <a:sym typeface="Poppins"/>
              </a:rPr>
              <a:t>S</a:t>
            </a:r>
            <a:r>
              <a:rPr lang="en-US" sz="2499">
                <a:solidFill>
                  <a:srgbClr val="FFFFFF"/>
                </a:solidFill>
                <a:latin typeface="Poppins"/>
                <a:ea typeface="Poppins"/>
                <a:cs typeface="Poppins"/>
                <a:sym typeface="Poppins"/>
              </a:rPr>
              <a:t>tudio Shodwe</a:t>
            </a:r>
          </a:p>
        </p:txBody>
      </p:sp>
      <p:sp>
        <p:nvSpPr>
          <p:cNvPr name="TextBox 15" id="15"/>
          <p:cNvSpPr txBox="true"/>
          <p:nvPr/>
        </p:nvSpPr>
        <p:spPr>
          <a:xfrm rot="0">
            <a:off x="1028700" y="8816975"/>
            <a:ext cx="4911986" cy="441325"/>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FFFFFF"/>
                </a:solidFill>
                <a:latin typeface="Poppins"/>
                <a:ea typeface="Poppins"/>
                <a:cs typeface="Poppins"/>
                <a:sym typeface="Poppins"/>
              </a:rPr>
              <a:t>www.reallygreatsite.com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1028700"/>
            <a:ext cx="642386" cy="729984"/>
          </a:xfrm>
          <a:custGeom>
            <a:avLst/>
            <a:gdLst/>
            <a:ahLst/>
            <a:cxnLst/>
            <a:rect r="r" b="b" t="t" l="l"/>
            <a:pathLst>
              <a:path h="729984" w="642386">
                <a:moveTo>
                  <a:pt x="0" y="0"/>
                </a:moveTo>
                <a:lnTo>
                  <a:pt x="642386" y="0"/>
                </a:lnTo>
                <a:lnTo>
                  <a:pt x="642386" y="729984"/>
                </a:lnTo>
                <a:lnTo>
                  <a:pt x="0" y="7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358500"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352214" y="1615639"/>
            <a:ext cx="11583573" cy="976630"/>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Members and Role</a:t>
            </a:r>
          </a:p>
        </p:txBody>
      </p:sp>
      <p:sp>
        <p:nvSpPr>
          <p:cNvPr name="TextBox 9" id="9"/>
          <p:cNvSpPr txBox="true"/>
          <p:nvPr/>
        </p:nvSpPr>
        <p:spPr>
          <a:xfrm rot="0">
            <a:off x="1207859" y="1139692"/>
            <a:ext cx="3037713" cy="441325"/>
          </a:xfrm>
          <a:prstGeom prst="rect">
            <a:avLst/>
          </a:prstGeom>
        </p:spPr>
        <p:txBody>
          <a:bodyPr anchor="t" rtlCol="false" tIns="0" lIns="0" bIns="0" rIns="0">
            <a:spAutoFit/>
          </a:bodyPr>
          <a:lstStyle/>
          <a:p>
            <a:pPr algn="r">
              <a:lnSpc>
                <a:spcPts val="3499"/>
              </a:lnSpc>
              <a:spcBef>
                <a:spcPct val="0"/>
              </a:spcBef>
            </a:pPr>
            <a:r>
              <a:rPr lang="en-US" sz="2499">
                <a:solidFill>
                  <a:srgbClr val="FFFFFF"/>
                </a:solidFill>
                <a:latin typeface="Poppins"/>
                <a:ea typeface="Poppins"/>
                <a:cs typeface="Poppins"/>
                <a:sym typeface="Poppins"/>
              </a:rPr>
              <a:t>S</a:t>
            </a:r>
            <a:r>
              <a:rPr lang="en-US" sz="2499">
                <a:solidFill>
                  <a:srgbClr val="FFFFFF"/>
                </a:solidFill>
                <a:latin typeface="Poppins"/>
                <a:ea typeface="Poppins"/>
                <a:cs typeface="Poppins"/>
                <a:sym typeface="Poppins"/>
              </a:rPr>
              <a:t>tudio Shodwe</a:t>
            </a:r>
          </a:p>
        </p:txBody>
      </p:sp>
      <p:sp>
        <p:nvSpPr>
          <p:cNvPr name="TextBox 10" id="10"/>
          <p:cNvSpPr txBox="true"/>
          <p:nvPr/>
        </p:nvSpPr>
        <p:spPr>
          <a:xfrm rot="0">
            <a:off x="1028700" y="3029702"/>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01</a:t>
            </a:r>
          </a:p>
        </p:txBody>
      </p:sp>
      <p:sp>
        <p:nvSpPr>
          <p:cNvPr name="TextBox 11" id="11"/>
          <p:cNvSpPr txBox="true"/>
          <p:nvPr/>
        </p:nvSpPr>
        <p:spPr>
          <a:xfrm rot="0">
            <a:off x="2502737" y="3513334"/>
            <a:ext cx="5877071" cy="2632075"/>
          </a:xfrm>
          <a:prstGeom prst="rect">
            <a:avLst/>
          </a:prstGeom>
        </p:spPr>
        <p:txBody>
          <a:bodyPr anchor="t" rtlCol="false" tIns="0" lIns="0" bIns="0" rIns="0">
            <a:spAutoFit/>
          </a:bodyPr>
          <a:lstStyle/>
          <a:p>
            <a:pPr algn="just">
              <a:lnSpc>
                <a:spcPts val="3499"/>
              </a:lnSpc>
            </a:pPr>
            <a:r>
              <a:rPr lang="en-US" sz="2499">
                <a:solidFill>
                  <a:srgbClr val="FFFFFF"/>
                </a:solidFill>
                <a:latin typeface="Poppins"/>
                <a:ea typeface="Poppins"/>
                <a:cs typeface="Poppins"/>
                <a:sym typeface="Poppins"/>
              </a:rPr>
              <a:t>Role 1 : API Tester dan Postman Collection. Melakukan pengujian GET dan Post serta mendokumentasikan response, payload JSON, dan status codenya.</a:t>
            </a:r>
          </a:p>
          <a:p>
            <a:pPr algn="just">
              <a:lnSpc>
                <a:spcPts val="3499"/>
              </a:lnSpc>
              <a:spcBef>
                <a:spcPct val="0"/>
              </a:spcBef>
            </a:pPr>
          </a:p>
        </p:txBody>
      </p:sp>
      <p:sp>
        <p:nvSpPr>
          <p:cNvPr name="TextBox 12" id="12"/>
          <p:cNvSpPr txBox="true"/>
          <p:nvPr/>
        </p:nvSpPr>
        <p:spPr>
          <a:xfrm rot="0">
            <a:off x="2502737" y="3033829"/>
            <a:ext cx="6091121" cy="441325"/>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Diva Almadea Vasya - 25110500033</a:t>
            </a:r>
          </a:p>
        </p:txBody>
      </p:sp>
      <p:sp>
        <p:nvSpPr>
          <p:cNvPr name="TextBox 13" id="13"/>
          <p:cNvSpPr txBox="true"/>
          <p:nvPr/>
        </p:nvSpPr>
        <p:spPr>
          <a:xfrm rot="0">
            <a:off x="1028700" y="6329487"/>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02</a:t>
            </a:r>
          </a:p>
        </p:txBody>
      </p:sp>
      <p:sp>
        <p:nvSpPr>
          <p:cNvPr name="TextBox 14" id="14"/>
          <p:cNvSpPr txBox="true"/>
          <p:nvPr/>
        </p:nvSpPr>
        <p:spPr>
          <a:xfrm rot="0">
            <a:off x="2502737" y="6813119"/>
            <a:ext cx="6091121" cy="263207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Role 2 : Packet Capture dan Trouble Shooting. Mengambil packet capture menggunakan Wireshark, menganalisis paket HTTP/TCP/DNS, serta mendokumentasikan troubleshooting.</a:t>
            </a:r>
          </a:p>
        </p:txBody>
      </p:sp>
      <p:sp>
        <p:nvSpPr>
          <p:cNvPr name="TextBox 15" id="15"/>
          <p:cNvSpPr txBox="true"/>
          <p:nvPr/>
        </p:nvSpPr>
        <p:spPr>
          <a:xfrm rot="0">
            <a:off x="2502737" y="6333614"/>
            <a:ext cx="6257141" cy="441325"/>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Adinda Azka Firmanda - 25110500006</a:t>
            </a:r>
          </a:p>
        </p:txBody>
      </p:sp>
      <p:sp>
        <p:nvSpPr>
          <p:cNvPr name="TextBox 16" id="16"/>
          <p:cNvSpPr txBox="true"/>
          <p:nvPr/>
        </p:nvSpPr>
        <p:spPr>
          <a:xfrm rot="0">
            <a:off x="9908192" y="3029702"/>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03</a:t>
            </a:r>
          </a:p>
        </p:txBody>
      </p:sp>
      <p:sp>
        <p:nvSpPr>
          <p:cNvPr name="TextBox 17" id="17"/>
          <p:cNvSpPr txBox="true"/>
          <p:nvPr/>
        </p:nvSpPr>
        <p:spPr>
          <a:xfrm rot="0">
            <a:off x="11382229" y="3513334"/>
            <a:ext cx="5877071" cy="21939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Role 3 : Data Format Analysis &amp; Python Parsing. Menganalisis struktur JSON, membuat script Python untuk parsing data, dan menghasilkan output tabel/DataFrame.</a:t>
            </a:r>
          </a:p>
        </p:txBody>
      </p:sp>
      <p:sp>
        <p:nvSpPr>
          <p:cNvPr name="TextBox 18" id="18"/>
          <p:cNvSpPr txBox="true"/>
          <p:nvPr/>
        </p:nvSpPr>
        <p:spPr>
          <a:xfrm rot="0">
            <a:off x="11382229" y="3033829"/>
            <a:ext cx="5620560" cy="441325"/>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Laudya Pricilla Putri - 25110500017</a:t>
            </a:r>
          </a:p>
        </p:txBody>
      </p:sp>
      <p:sp>
        <p:nvSpPr>
          <p:cNvPr name="TextBox 19" id="19"/>
          <p:cNvSpPr txBox="true"/>
          <p:nvPr/>
        </p:nvSpPr>
        <p:spPr>
          <a:xfrm rot="0">
            <a:off x="9908192" y="6329487"/>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04</a:t>
            </a:r>
          </a:p>
        </p:txBody>
      </p:sp>
      <p:sp>
        <p:nvSpPr>
          <p:cNvPr name="TextBox 20" id="20"/>
          <p:cNvSpPr txBox="true"/>
          <p:nvPr/>
        </p:nvSpPr>
        <p:spPr>
          <a:xfrm rot="0">
            <a:off x="11382229" y="7239441"/>
            <a:ext cx="5877071" cy="21939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Role 4 : Report, PPT &amp; Repository. Menyusun laporan PDF, PPT presentasi, mengelola repository GitHub, dan mengompilasi seluruh evidence kelompok.</a:t>
            </a:r>
          </a:p>
        </p:txBody>
      </p:sp>
      <p:sp>
        <p:nvSpPr>
          <p:cNvPr name="TextBox 21" id="21"/>
          <p:cNvSpPr txBox="true"/>
          <p:nvPr/>
        </p:nvSpPr>
        <p:spPr>
          <a:xfrm rot="0">
            <a:off x="11382229" y="6333614"/>
            <a:ext cx="6561683" cy="879475"/>
          </a:xfrm>
          <a:prstGeom prst="rect">
            <a:avLst/>
          </a:prstGeom>
        </p:spPr>
        <p:txBody>
          <a:bodyPr anchor="t" rtlCol="false" tIns="0" lIns="0" bIns="0" rIns="0">
            <a:spAutoFit/>
          </a:bodyPr>
          <a:lstStyle/>
          <a:p>
            <a:pPr algn="l">
              <a:lnSpc>
                <a:spcPts val="3499"/>
              </a:lnSpc>
            </a:pPr>
            <a:r>
              <a:rPr lang="en-US" b="true" sz="2499">
                <a:solidFill>
                  <a:srgbClr val="FFFFFF"/>
                </a:solidFill>
                <a:latin typeface="Poppins Bold"/>
                <a:ea typeface="Poppins Bold"/>
                <a:cs typeface="Poppins Bold"/>
                <a:sym typeface="Poppins Bold"/>
              </a:rPr>
              <a:t>Rizqo Misbahulgulam Muchsin - 25110500011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877318" y="904306"/>
            <a:ext cx="14480023" cy="976630"/>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Case, Tujuan, dan Request Flow</a:t>
            </a:r>
          </a:p>
        </p:txBody>
      </p:sp>
      <p:sp>
        <p:nvSpPr>
          <p:cNvPr name="TextBox 4" id="4"/>
          <p:cNvSpPr txBox="true"/>
          <p:nvPr/>
        </p:nvSpPr>
        <p:spPr>
          <a:xfrm rot="0">
            <a:off x="1028700" y="2124328"/>
            <a:ext cx="16230600" cy="1330235"/>
          </a:xfrm>
          <a:prstGeom prst="rect">
            <a:avLst/>
          </a:prstGeom>
        </p:spPr>
        <p:txBody>
          <a:bodyPr anchor="t" rtlCol="false" tIns="0" lIns="0" bIns="0" rIns="0">
            <a:spAutoFit/>
          </a:bodyPr>
          <a:lstStyle/>
          <a:p>
            <a:pPr algn="just">
              <a:lnSpc>
                <a:spcPts val="3508"/>
              </a:lnSpc>
              <a:spcBef>
                <a:spcPct val="0"/>
              </a:spcBef>
            </a:pPr>
            <a:r>
              <a:rPr lang="en-US" sz="2506">
                <a:solidFill>
                  <a:srgbClr val="FFFFFF"/>
                </a:solidFill>
                <a:latin typeface="Poppins"/>
                <a:ea typeface="Poppins"/>
                <a:cs typeface="Poppins"/>
                <a:sym typeface="Poppins"/>
              </a:rPr>
              <a:t>Studi kasus ini berfokus pada analisis komunikasi REST API berbasis JSON menggunakan Postman, Wireshark, dan Python. JSONPlaceholder digunakan sebagai REST API publik untuk melakukan pengujian komunikasi client-server melalui metode HTTP GET dan POST. </a:t>
            </a:r>
          </a:p>
        </p:txBody>
      </p:sp>
      <p:grpSp>
        <p:nvGrpSpPr>
          <p:cNvPr name="Group 5" id="5"/>
          <p:cNvGrpSpPr/>
          <p:nvPr/>
        </p:nvGrpSpPr>
        <p:grpSpPr>
          <a:xfrm rot="0">
            <a:off x="-560343" y="9889125"/>
            <a:ext cx="19408687" cy="996493"/>
            <a:chOff x="0" y="0"/>
            <a:chExt cx="5111753" cy="262451"/>
          </a:xfrm>
        </p:grpSpPr>
        <p:sp>
          <p:nvSpPr>
            <p:cNvPr name="Freeform 6" id="6"/>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7" id="7"/>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43323" y="9070975"/>
            <a:ext cx="860834" cy="1002427"/>
          </a:xfrm>
          <a:custGeom>
            <a:avLst/>
            <a:gdLst/>
            <a:ahLst/>
            <a:cxnLst/>
            <a:rect r="r" b="b" t="t" l="l"/>
            <a:pathLst>
              <a:path h="1002427" w="860834">
                <a:moveTo>
                  <a:pt x="0" y="0"/>
                </a:moveTo>
                <a:lnTo>
                  <a:pt x="860835" y="0"/>
                </a:lnTo>
                <a:lnTo>
                  <a:pt x="860835"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877318" y="4090195"/>
            <a:ext cx="1857645" cy="488315"/>
          </a:xfrm>
          <a:prstGeom prst="rect">
            <a:avLst/>
          </a:prstGeom>
        </p:spPr>
        <p:txBody>
          <a:bodyPr anchor="t" rtlCol="false" tIns="0" lIns="0" bIns="0" rIns="0">
            <a:spAutoFit/>
          </a:bodyPr>
          <a:lstStyle/>
          <a:p>
            <a:pPr algn="ctr" marL="0" indent="0" lvl="0">
              <a:lnSpc>
                <a:spcPts val="3430"/>
              </a:lnSpc>
            </a:pPr>
            <a:r>
              <a:rPr lang="en-US" b="true" sz="3500">
                <a:solidFill>
                  <a:srgbClr val="FFFFFF"/>
                </a:solidFill>
                <a:latin typeface="Poppins Bold"/>
                <a:ea typeface="Poppins Bold"/>
                <a:cs typeface="Poppins Bold"/>
                <a:sym typeface="Poppins Bold"/>
              </a:rPr>
              <a:t>Tujuan</a:t>
            </a:r>
          </a:p>
        </p:txBody>
      </p:sp>
      <p:sp>
        <p:nvSpPr>
          <p:cNvPr name="TextBox 10" id="10"/>
          <p:cNvSpPr txBox="true"/>
          <p:nvPr/>
        </p:nvSpPr>
        <p:spPr>
          <a:xfrm rot="0">
            <a:off x="1028700" y="4597561"/>
            <a:ext cx="16446148" cy="3050170"/>
          </a:xfrm>
          <a:prstGeom prst="rect">
            <a:avLst/>
          </a:prstGeom>
        </p:spPr>
        <p:txBody>
          <a:bodyPr anchor="t" rtlCol="false" tIns="0" lIns="0" bIns="0" rIns="0">
            <a:spAutoFit/>
          </a:bodyPr>
          <a:lstStyle/>
          <a:p>
            <a:pPr algn="just" marL="536146" indent="-268073" lvl="1">
              <a:lnSpc>
                <a:spcPts val="3476"/>
              </a:lnSpc>
              <a:buFont typeface="Arial"/>
              <a:buChar char="•"/>
            </a:pPr>
            <a:r>
              <a:rPr lang="en-US" sz="2483">
                <a:solidFill>
                  <a:srgbClr val="FFFFFF"/>
                </a:solidFill>
                <a:latin typeface="Poppins"/>
                <a:ea typeface="Poppins"/>
                <a:cs typeface="Poppins"/>
                <a:sym typeface="Poppins"/>
              </a:rPr>
              <a:t>Memahami proses komunikasi antara client dan server melalui REST API menggunakan metode HTTP GET dan POST.</a:t>
            </a:r>
          </a:p>
          <a:p>
            <a:pPr algn="just" marL="536146" indent="-268073" lvl="1">
              <a:lnSpc>
                <a:spcPts val="3476"/>
              </a:lnSpc>
              <a:buFont typeface="Arial"/>
              <a:buChar char="•"/>
            </a:pPr>
            <a:r>
              <a:rPr lang="en-US" sz="2483">
                <a:solidFill>
                  <a:srgbClr val="FFFFFF"/>
                </a:solidFill>
                <a:latin typeface="Poppins"/>
                <a:ea typeface="Poppins"/>
                <a:cs typeface="Poppins"/>
                <a:sym typeface="Poppins"/>
              </a:rPr>
              <a:t>Menganalisis aktivitas jaringan menggunakan Wireshark untuk mengamati protokol DNS, TCP, TLS, dan HTTP selama proses request–response.</a:t>
            </a:r>
          </a:p>
          <a:p>
            <a:pPr algn="just" marL="536146" indent="-268073" lvl="1">
              <a:lnSpc>
                <a:spcPts val="3476"/>
              </a:lnSpc>
              <a:buFont typeface="Arial"/>
              <a:buChar char="•"/>
            </a:pPr>
            <a:r>
              <a:rPr lang="en-US" sz="2483">
                <a:solidFill>
                  <a:srgbClr val="FFFFFF"/>
                </a:solidFill>
                <a:latin typeface="Poppins"/>
                <a:ea typeface="Poppins"/>
                <a:cs typeface="Poppins"/>
                <a:sym typeface="Poppins"/>
              </a:rPr>
              <a:t>Mengolah dan memparsing data JSON menggunakan Python sehingga dapat ditampilkan dalam bentuk DataFrame atau CSV yang lebih mudah dianalisis.</a:t>
            </a:r>
          </a:p>
          <a:p>
            <a:pPr algn="just">
              <a:lnSpc>
                <a:spcPts val="3476"/>
              </a:lnSpc>
              <a:spcBef>
                <a:spcPct val="0"/>
              </a:spcBef>
            </a:pPr>
          </a:p>
        </p:txBody>
      </p:sp>
      <p:sp>
        <p:nvSpPr>
          <p:cNvPr name="TextBox 11" id="11"/>
          <p:cNvSpPr txBox="true"/>
          <p:nvPr/>
        </p:nvSpPr>
        <p:spPr>
          <a:xfrm rot="0">
            <a:off x="877318" y="7436051"/>
            <a:ext cx="3251978" cy="488315"/>
          </a:xfrm>
          <a:prstGeom prst="rect">
            <a:avLst/>
          </a:prstGeom>
        </p:spPr>
        <p:txBody>
          <a:bodyPr anchor="t" rtlCol="false" tIns="0" lIns="0" bIns="0" rIns="0">
            <a:spAutoFit/>
          </a:bodyPr>
          <a:lstStyle/>
          <a:p>
            <a:pPr algn="ctr" marL="0" indent="0" lvl="0">
              <a:lnSpc>
                <a:spcPts val="3430"/>
              </a:lnSpc>
            </a:pPr>
            <a:r>
              <a:rPr lang="en-US" b="true" sz="3500">
                <a:solidFill>
                  <a:srgbClr val="FFFFFF"/>
                </a:solidFill>
                <a:latin typeface="Poppins Bold"/>
                <a:ea typeface="Poppins Bold"/>
                <a:cs typeface="Poppins Bold"/>
                <a:sym typeface="Poppins Bold"/>
              </a:rPr>
              <a:t>Request flow</a:t>
            </a:r>
          </a:p>
        </p:txBody>
      </p:sp>
      <p:sp>
        <p:nvSpPr>
          <p:cNvPr name="TextBox 12" id="12"/>
          <p:cNvSpPr txBox="true"/>
          <p:nvPr/>
        </p:nvSpPr>
        <p:spPr>
          <a:xfrm rot="0">
            <a:off x="1028700" y="7940463"/>
            <a:ext cx="16698189" cy="2194349"/>
          </a:xfrm>
          <a:prstGeom prst="rect">
            <a:avLst/>
          </a:prstGeom>
        </p:spPr>
        <p:txBody>
          <a:bodyPr anchor="t" rtlCol="false" tIns="0" lIns="0" bIns="0" rIns="0">
            <a:spAutoFit/>
          </a:bodyPr>
          <a:lstStyle/>
          <a:p>
            <a:pPr algn="l" marL="536145" indent="-268073" lvl="1">
              <a:lnSpc>
                <a:spcPts val="3476"/>
              </a:lnSpc>
              <a:buFont typeface="Arial"/>
              <a:buChar char="•"/>
            </a:pPr>
            <a:r>
              <a:rPr lang="en-US" sz="2483">
                <a:solidFill>
                  <a:srgbClr val="FFFFFF"/>
                </a:solidFill>
                <a:latin typeface="Poppins"/>
                <a:ea typeface="Poppins"/>
                <a:cs typeface="Poppins"/>
                <a:sym typeface="Poppins"/>
              </a:rPr>
              <a:t>Postman mengirim request GET atau POST ke REST API Server.</a:t>
            </a:r>
          </a:p>
          <a:p>
            <a:pPr algn="l" marL="536145" indent="-268073" lvl="1">
              <a:lnSpc>
                <a:spcPts val="3476"/>
              </a:lnSpc>
              <a:buFont typeface="Arial"/>
              <a:buChar char="•"/>
            </a:pPr>
            <a:r>
              <a:rPr lang="en-US" sz="2483">
                <a:solidFill>
                  <a:srgbClr val="FFFFFF"/>
                </a:solidFill>
                <a:latin typeface="Poppins"/>
                <a:ea typeface="Poppins"/>
                <a:cs typeface="Poppins"/>
                <a:sym typeface="Poppins"/>
              </a:rPr>
              <a:t>Server memproses request dan mengembalikan response dalam format JSON.</a:t>
            </a:r>
          </a:p>
          <a:p>
            <a:pPr algn="l" marL="536145" indent="-268073" lvl="1">
              <a:lnSpc>
                <a:spcPts val="3476"/>
              </a:lnSpc>
              <a:buFont typeface="Arial"/>
              <a:buChar char="•"/>
            </a:pPr>
            <a:r>
              <a:rPr lang="en-US" sz="2483">
                <a:solidFill>
                  <a:srgbClr val="FFFFFF"/>
                </a:solidFill>
                <a:latin typeface="Poppins"/>
                <a:ea typeface="Poppins"/>
                <a:cs typeface="Poppins"/>
                <a:sym typeface="Poppins"/>
              </a:rPr>
              <a:t>Response direkam oleh Wireshark dan diparsing menggunakan Python menjadi DataFrame atau CSV.</a:t>
            </a:r>
          </a:p>
          <a:p>
            <a:pPr algn="l">
              <a:lnSpc>
                <a:spcPts val="3476"/>
              </a:lnSpc>
            </a:pPr>
          </a:p>
          <a:p>
            <a:pPr algn="just">
              <a:lnSpc>
                <a:spcPts val="347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43323" y="9070975"/>
            <a:ext cx="860834" cy="1002427"/>
          </a:xfrm>
          <a:custGeom>
            <a:avLst/>
            <a:gdLst/>
            <a:ahLst/>
            <a:cxnLst/>
            <a:rect r="r" b="b" t="t" l="l"/>
            <a:pathLst>
              <a:path h="1002427" w="860834">
                <a:moveTo>
                  <a:pt x="0" y="0"/>
                </a:moveTo>
                <a:lnTo>
                  <a:pt x="860835" y="0"/>
                </a:lnTo>
                <a:lnTo>
                  <a:pt x="860835"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25162" y="1968875"/>
            <a:ext cx="8259032" cy="1089561"/>
          </a:xfrm>
          <a:custGeom>
            <a:avLst/>
            <a:gdLst/>
            <a:ahLst/>
            <a:cxnLst/>
            <a:rect r="r" b="b" t="t" l="l"/>
            <a:pathLst>
              <a:path h="1089561" w="8259032">
                <a:moveTo>
                  <a:pt x="0" y="0"/>
                </a:moveTo>
                <a:lnTo>
                  <a:pt x="8259032" y="0"/>
                </a:lnTo>
                <a:lnTo>
                  <a:pt x="8259032" y="1089561"/>
                </a:lnTo>
                <a:lnTo>
                  <a:pt x="0" y="1089561"/>
                </a:lnTo>
                <a:lnTo>
                  <a:pt x="0" y="0"/>
                </a:lnTo>
                <a:close/>
              </a:path>
            </a:pathLst>
          </a:custGeom>
          <a:blipFill>
            <a:blip r:embed="rId5"/>
            <a:stretch>
              <a:fillRect l="-19115" t="0" r="0" b="-381931"/>
            </a:stretch>
          </a:blipFill>
        </p:spPr>
      </p:sp>
      <p:sp>
        <p:nvSpPr>
          <p:cNvPr name="Freeform 8" id="8"/>
          <p:cNvSpPr/>
          <p:nvPr/>
        </p:nvSpPr>
        <p:spPr>
          <a:xfrm flipH="false" flipV="false" rot="0">
            <a:off x="738692" y="4501718"/>
            <a:ext cx="8145502" cy="3882973"/>
          </a:xfrm>
          <a:custGeom>
            <a:avLst/>
            <a:gdLst/>
            <a:ahLst/>
            <a:cxnLst/>
            <a:rect r="r" b="b" t="t" l="l"/>
            <a:pathLst>
              <a:path h="3882973" w="8145502">
                <a:moveTo>
                  <a:pt x="0" y="0"/>
                </a:moveTo>
                <a:lnTo>
                  <a:pt x="8145502" y="0"/>
                </a:lnTo>
                <a:lnTo>
                  <a:pt x="8145502" y="3882974"/>
                </a:lnTo>
                <a:lnTo>
                  <a:pt x="0" y="3882974"/>
                </a:lnTo>
                <a:lnTo>
                  <a:pt x="0" y="0"/>
                </a:lnTo>
                <a:close/>
              </a:path>
            </a:pathLst>
          </a:custGeom>
          <a:blipFill>
            <a:blip r:embed="rId5"/>
            <a:stretch>
              <a:fillRect l="-22374" t="-36858" r="0" b="0"/>
            </a:stretch>
          </a:blipFill>
        </p:spPr>
      </p:sp>
      <p:sp>
        <p:nvSpPr>
          <p:cNvPr name="Freeform 9" id="9"/>
          <p:cNvSpPr/>
          <p:nvPr/>
        </p:nvSpPr>
        <p:spPr>
          <a:xfrm flipH="false" flipV="false" rot="0">
            <a:off x="13463900" y="4404003"/>
            <a:ext cx="1934797" cy="1025442"/>
          </a:xfrm>
          <a:custGeom>
            <a:avLst/>
            <a:gdLst/>
            <a:ahLst/>
            <a:cxnLst/>
            <a:rect r="r" b="b" t="t" l="l"/>
            <a:pathLst>
              <a:path h="1025442" w="1934797">
                <a:moveTo>
                  <a:pt x="0" y="0"/>
                </a:moveTo>
                <a:lnTo>
                  <a:pt x="1934797" y="0"/>
                </a:lnTo>
                <a:lnTo>
                  <a:pt x="1934797" y="1025443"/>
                </a:lnTo>
                <a:lnTo>
                  <a:pt x="0" y="1025443"/>
                </a:lnTo>
                <a:lnTo>
                  <a:pt x="0" y="0"/>
                </a:lnTo>
                <a:close/>
              </a:path>
            </a:pathLst>
          </a:custGeom>
          <a:blipFill>
            <a:blip r:embed="rId6"/>
            <a:stretch>
              <a:fillRect l="0" t="0" r="0" b="0"/>
            </a:stretch>
          </a:blipFill>
        </p:spPr>
      </p:sp>
      <p:sp>
        <p:nvSpPr>
          <p:cNvPr name="Freeform 10" id="10"/>
          <p:cNvSpPr/>
          <p:nvPr/>
        </p:nvSpPr>
        <p:spPr>
          <a:xfrm flipH="false" flipV="false" rot="0">
            <a:off x="9441020" y="5477071"/>
            <a:ext cx="8560059" cy="2934915"/>
          </a:xfrm>
          <a:custGeom>
            <a:avLst/>
            <a:gdLst/>
            <a:ahLst/>
            <a:cxnLst/>
            <a:rect r="r" b="b" t="t" l="l"/>
            <a:pathLst>
              <a:path h="2934915" w="8560059">
                <a:moveTo>
                  <a:pt x="0" y="0"/>
                </a:moveTo>
                <a:lnTo>
                  <a:pt x="8560059" y="0"/>
                </a:lnTo>
                <a:lnTo>
                  <a:pt x="8560059" y="2934915"/>
                </a:lnTo>
                <a:lnTo>
                  <a:pt x="0" y="2934915"/>
                </a:lnTo>
                <a:lnTo>
                  <a:pt x="0" y="0"/>
                </a:lnTo>
                <a:close/>
              </a:path>
            </a:pathLst>
          </a:custGeom>
          <a:blipFill>
            <a:blip r:embed="rId6"/>
            <a:stretch>
              <a:fillRect l="-24961" t="-84759" r="-15458" b="-32302"/>
            </a:stretch>
          </a:blipFill>
        </p:spPr>
      </p:sp>
      <p:sp>
        <p:nvSpPr>
          <p:cNvPr name="Freeform 11" id="11"/>
          <p:cNvSpPr/>
          <p:nvPr/>
        </p:nvSpPr>
        <p:spPr>
          <a:xfrm flipH="false" flipV="false" rot="0">
            <a:off x="9280515" y="1952320"/>
            <a:ext cx="8881069" cy="2100846"/>
          </a:xfrm>
          <a:custGeom>
            <a:avLst/>
            <a:gdLst/>
            <a:ahLst/>
            <a:cxnLst/>
            <a:rect r="r" b="b" t="t" l="l"/>
            <a:pathLst>
              <a:path h="2100846" w="8881069">
                <a:moveTo>
                  <a:pt x="0" y="0"/>
                </a:moveTo>
                <a:lnTo>
                  <a:pt x="8881069" y="0"/>
                </a:lnTo>
                <a:lnTo>
                  <a:pt x="8881069" y="2100846"/>
                </a:lnTo>
                <a:lnTo>
                  <a:pt x="0" y="2100846"/>
                </a:lnTo>
                <a:lnTo>
                  <a:pt x="0" y="0"/>
                </a:lnTo>
                <a:close/>
              </a:path>
            </a:pathLst>
          </a:custGeom>
          <a:blipFill>
            <a:blip r:embed="rId6"/>
            <a:stretch>
              <a:fillRect l="-22621" t="0" r="0" b="-174734"/>
            </a:stretch>
          </a:blipFill>
        </p:spPr>
      </p:sp>
      <p:sp>
        <p:nvSpPr>
          <p:cNvPr name="TextBox 12" id="12"/>
          <p:cNvSpPr txBox="true"/>
          <p:nvPr/>
        </p:nvSpPr>
        <p:spPr>
          <a:xfrm rot="0">
            <a:off x="2748559" y="583248"/>
            <a:ext cx="12790881" cy="976630"/>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Evidence Request GET/POST</a:t>
            </a:r>
          </a:p>
        </p:txBody>
      </p:sp>
      <p:sp>
        <p:nvSpPr>
          <p:cNvPr name="TextBox 13" id="13"/>
          <p:cNvSpPr txBox="true"/>
          <p:nvPr/>
        </p:nvSpPr>
        <p:spPr>
          <a:xfrm rot="0">
            <a:off x="-1569742" y="3963311"/>
            <a:ext cx="12790881" cy="488317"/>
          </a:xfrm>
          <a:prstGeom prst="rect">
            <a:avLst/>
          </a:prstGeom>
        </p:spPr>
        <p:txBody>
          <a:bodyPr anchor="t" rtlCol="false" tIns="0" lIns="0" bIns="0" rIns="0">
            <a:spAutoFit/>
          </a:bodyPr>
          <a:lstStyle/>
          <a:p>
            <a:pPr algn="ctr" marL="0" indent="0" lvl="0">
              <a:lnSpc>
                <a:spcPts val="3430"/>
              </a:lnSpc>
            </a:pPr>
            <a:r>
              <a:rPr lang="en-US" b="true" sz="3500">
                <a:solidFill>
                  <a:srgbClr val="FFFFFF"/>
                </a:solidFill>
                <a:latin typeface="Poppins Bold"/>
                <a:ea typeface="Poppins Bold"/>
                <a:cs typeface="Poppins Bold"/>
                <a:sym typeface="Poppins Bold"/>
              </a:rPr>
              <a:t>Hasil Request GET</a:t>
            </a:r>
          </a:p>
        </p:txBody>
      </p:sp>
      <p:sp>
        <p:nvSpPr>
          <p:cNvPr name="TextBox 14" id="14"/>
          <p:cNvSpPr txBox="true"/>
          <p:nvPr/>
        </p:nvSpPr>
        <p:spPr>
          <a:xfrm rot="0">
            <a:off x="681927" y="3099711"/>
            <a:ext cx="6903393" cy="3683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Endpoint : https://jsonplaceholder.typicode.com/users</a:t>
            </a:r>
          </a:p>
        </p:txBody>
      </p:sp>
      <p:sp>
        <p:nvSpPr>
          <p:cNvPr name="TextBox 15" id="15"/>
          <p:cNvSpPr txBox="true"/>
          <p:nvPr/>
        </p:nvSpPr>
        <p:spPr>
          <a:xfrm rot="0">
            <a:off x="9810345" y="4186516"/>
            <a:ext cx="6782693" cy="3683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Endpoint : https://jsonplaceholder.typicode.com/post</a:t>
            </a:r>
          </a:p>
        </p:txBody>
      </p:sp>
      <p:sp>
        <p:nvSpPr>
          <p:cNvPr name="TextBox 16" id="16"/>
          <p:cNvSpPr txBox="true"/>
          <p:nvPr/>
        </p:nvSpPr>
        <p:spPr>
          <a:xfrm rot="0">
            <a:off x="681927" y="8539837"/>
            <a:ext cx="2766120" cy="3683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Status Code  : 200 OK </a:t>
            </a:r>
          </a:p>
        </p:txBody>
      </p:sp>
      <p:sp>
        <p:nvSpPr>
          <p:cNvPr name="TextBox 17" id="17"/>
          <p:cNvSpPr txBox="true"/>
          <p:nvPr/>
        </p:nvSpPr>
        <p:spPr>
          <a:xfrm rot="0">
            <a:off x="9505672" y="8539837"/>
            <a:ext cx="3430935" cy="3683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oppins"/>
                <a:ea typeface="Poppins"/>
                <a:cs typeface="Poppins"/>
                <a:sym typeface="Poppins"/>
              </a:rPr>
              <a:t>Status Code  : 201 Created. </a:t>
            </a:r>
          </a:p>
        </p:txBody>
      </p:sp>
      <p:sp>
        <p:nvSpPr>
          <p:cNvPr name="TextBox 18" id="18"/>
          <p:cNvSpPr txBox="true"/>
          <p:nvPr/>
        </p:nvSpPr>
        <p:spPr>
          <a:xfrm rot="0">
            <a:off x="11543471" y="4651571"/>
            <a:ext cx="4355157" cy="635000"/>
          </a:xfrm>
          <a:prstGeom prst="rect">
            <a:avLst/>
          </a:prstGeom>
        </p:spPr>
        <p:txBody>
          <a:bodyPr anchor="t" rtlCol="false" tIns="0" lIns="0" bIns="0" rIns="0">
            <a:spAutoFit/>
          </a:bodyPr>
          <a:lstStyle/>
          <a:p>
            <a:pPr algn="ctr">
              <a:lnSpc>
                <a:spcPts val="4900"/>
              </a:lnSpc>
              <a:spcBef>
                <a:spcPct val="0"/>
              </a:spcBef>
            </a:pPr>
            <a:r>
              <a:rPr lang="en-US" b="true" sz="3500">
                <a:solidFill>
                  <a:srgbClr val="FFFFFF"/>
                </a:solidFill>
                <a:latin typeface="Poppins Bold"/>
                <a:ea typeface="Poppins Bold"/>
                <a:cs typeface="Poppins Bold"/>
                <a:sym typeface="Poppins Bold"/>
              </a:rPr>
              <a:t>Hasil Request POST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93381" y="1962768"/>
            <a:ext cx="7317020" cy="3914606"/>
          </a:xfrm>
          <a:custGeom>
            <a:avLst/>
            <a:gdLst/>
            <a:ahLst/>
            <a:cxnLst/>
            <a:rect r="r" b="b" t="t" l="l"/>
            <a:pathLst>
              <a:path h="3914606" w="7317020">
                <a:moveTo>
                  <a:pt x="0" y="0"/>
                </a:moveTo>
                <a:lnTo>
                  <a:pt x="7317020" y="0"/>
                </a:lnTo>
                <a:lnTo>
                  <a:pt x="7317020" y="3914606"/>
                </a:lnTo>
                <a:lnTo>
                  <a:pt x="0" y="3914606"/>
                </a:lnTo>
                <a:lnTo>
                  <a:pt x="0" y="0"/>
                </a:lnTo>
                <a:close/>
              </a:path>
            </a:pathLst>
          </a:custGeom>
          <a:blipFill>
            <a:blip r:embed="rId3"/>
            <a:stretch>
              <a:fillRect l="0" t="0" r="0" b="0"/>
            </a:stretch>
          </a:blipFill>
        </p:spPr>
      </p:sp>
      <p:sp>
        <p:nvSpPr>
          <p:cNvPr name="Freeform 7" id="7"/>
          <p:cNvSpPr/>
          <p:nvPr/>
        </p:nvSpPr>
        <p:spPr>
          <a:xfrm flipH="false" flipV="false" rot="0">
            <a:off x="9605400" y="2177598"/>
            <a:ext cx="7653900" cy="3712142"/>
          </a:xfrm>
          <a:custGeom>
            <a:avLst/>
            <a:gdLst/>
            <a:ahLst/>
            <a:cxnLst/>
            <a:rect r="r" b="b" t="t" l="l"/>
            <a:pathLst>
              <a:path h="3712142" w="7653900">
                <a:moveTo>
                  <a:pt x="0" y="0"/>
                </a:moveTo>
                <a:lnTo>
                  <a:pt x="7653900" y="0"/>
                </a:lnTo>
                <a:lnTo>
                  <a:pt x="7653900" y="3712141"/>
                </a:lnTo>
                <a:lnTo>
                  <a:pt x="0" y="3712141"/>
                </a:lnTo>
                <a:lnTo>
                  <a:pt x="0" y="0"/>
                </a:lnTo>
                <a:close/>
              </a:path>
            </a:pathLst>
          </a:custGeom>
          <a:blipFill>
            <a:blip r:embed="rId4"/>
            <a:stretch>
              <a:fillRect l="0" t="0" r="0" b="0"/>
            </a:stretch>
          </a:blipFill>
        </p:spPr>
      </p:sp>
      <p:sp>
        <p:nvSpPr>
          <p:cNvPr name="Freeform 8" id="8"/>
          <p:cNvSpPr/>
          <p:nvPr/>
        </p:nvSpPr>
        <p:spPr>
          <a:xfrm flipH="false" flipV="false" rot="0">
            <a:off x="6252670" y="6508864"/>
            <a:ext cx="6040512" cy="3209022"/>
          </a:xfrm>
          <a:custGeom>
            <a:avLst/>
            <a:gdLst/>
            <a:ahLst/>
            <a:cxnLst/>
            <a:rect r="r" b="b" t="t" l="l"/>
            <a:pathLst>
              <a:path h="3209022" w="6040512">
                <a:moveTo>
                  <a:pt x="0" y="0"/>
                </a:moveTo>
                <a:lnTo>
                  <a:pt x="6040512" y="0"/>
                </a:lnTo>
                <a:lnTo>
                  <a:pt x="6040512" y="3209022"/>
                </a:lnTo>
                <a:lnTo>
                  <a:pt x="0" y="3209022"/>
                </a:lnTo>
                <a:lnTo>
                  <a:pt x="0" y="0"/>
                </a:lnTo>
                <a:close/>
              </a:path>
            </a:pathLst>
          </a:custGeom>
          <a:blipFill>
            <a:blip r:embed="rId5"/>
            <a:stretch>
              <a:fillRect l="0" t="0" r="0" b="0"/>
            </a:stretch>
          </a:blipFill>
        </p:spPr>
      </p:sp>
      <p:sp>
        <p:nvSpPr>
          <p:cNvPr name="TextBox 9" id="9"/>
          <p:cNvSpPr txBox="true"/>
          <p:nvPr/>
        </p:nvSpPr>
        <p:spPr>
          <a:xfrm rot="0">
            <a:off x="2748559" y="583248"/>
            <a:ext cx="12790881" cy="976630"/>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Evidence Packet Tracer</a:t>
            </a:r>
          </a:p>
        </p:txBody>
      </p:sp>
      <p:sp>
        <p:nvSpPr>
          <p:cNvPr name="TextBox 10" id="10"/>
          <p:cNvSpPr txBox="true"/>
          <p:nvPr/>
        </p:nvSpPr>
        <p:spPr>
          <a:xfrm rot="0">
            <a:off x="1028700" y="1468996"/>
            <a:ext cx="1318887" cy="44132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oppins"/>
                <a:ea typeface="Poppins"/>
                <a:cs typeface="Poppins"/>
                <a:sym typeface="Poppins"/>
              </a:rPr>
              <a:t>DNS</a:t>
            </a:r>
          </a:p>
        </p:txBody>
      </p:sp>
      <p:sp>
        <p:nvSpPr>
          <p:cNvPr name="TextBox 11" id="11"/>
          <p:cNvSpPr txBox="true"/>
          <p:nvPr/>
        </p:nvSpPr>
        <p:spPr>
          <a:xfrm rot="0">
            <a:off x="9431950" y="1468996"/>
            <a:ext cx="1318887" cy="44132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oppins"/>
                <a:ea typeface="Poppins"/>
                <a:cs typeface="Poppins"/>
                <a:sym typeface="Poppins"/>
              </a:rPr>
              <a:t>TCP</a:t>
            </a:r>
          </a:p>
        </p:txBody>
      </p:sp>
      <p:sp>
        <p:nvSpPr>
          <p:cNvPr name="TextBox 12" id="12"/>
          <p:cNvSpPr txBox="true"/>
          <p:nvPr/>
        </p:nvSpPr>
        <p:spPr>
          <a:xfrm rot="0">
            <a:off x="6252670" y="6067539"/>
            <a:ext cx="5782660" cy="44132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oppins"/>
                <a:ea typeface="Poppins"/>
                <a:cs typeface="Poppins"/>
                <a:sym typeface="Poppins"/>
              </a:rPr>
              <a:t>TLS (HTTP yang tidak terbaca)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075781" y="441629"/>
            <a:ext cx="10134403" cy="1095375"/>
          </a:xfrm>
          <a:prstGeom prst="rect">
            <a:avLst/>
          </a:prstGeom>
        </p:spPr>
        <p:txBody>
          <a:bodyPr anchor="t" rtlCol="false" tIns="0" lIns="0" bIns="0" rIns="0">
            <a:spAutoFit/>
          </a:bodyPr>
          <a:lstStyle/>
          <a:p>
            <a:pPr algn="ctr" marL="0" indent="0" lvl="1">
              <a:lnSpc>
                <a:spcPts val="8400"/>
              </a:lnSpc>
              <a:spcBef>
                <a:spcPct val="0"/>
              </a:spcBef>
            </a:pPr>
            <a:r>
              <a:rPr lang="en-US" b="true" sz="6000">
                <a:solidFill>
                  <a:srgbClr val="FFFFFF"/>
                </a:solidFill>
                <a:latin typeface="Poppins Bold"/>
                <a:ea typeface="Poppins Bold"/>
                <a:cs typeface="Poppins Bold"/>
                <a:sym typeface="Poppins Bold"/>
              </a:rPr>
              <a:t>Analisis Paket Penting</a:t>
            </a:r>
          </a:p>
        </p:txBody>
      </p:sp>
      <p:grpSp>
        <p:nvGrpSpPr>
          <p:cNvPr name="Group 7" id="7"/>
          <p:cNvGrpSpPr/>
          <p:nvPr/>
        </p:nvGrpSpPr>
        <p:grpSpPr>
          <a:xfrm rot="0">
            <a:off x="873862" y="2012308"/>
            <a:ext cx="5236365" cy="7245992"/>
            <a:chOff x="0" y="0"/>
            <a:chExt cx="6981819" cy="9661322"/>
          </a:xfrm>
        </p:grpSpPr>
        <p:grpSp>
          <p:nvGrpSpPr>
            <p:cNvPr name="Group 8" id="8"/>
            <p:cNvGrpSpPr/>
            <p:nvPr/>
          </p:nvGrpSpPr>
          <p:grpSpPr>
            <a:xfrm rot="0">
              <a:off x="0" y="0"/>
              <a:ext cx="6981819" cy="9661322"/>
              <a:chOff x="0" y="0"/>
              <a:chExt cx="1338538" cy="1852246"/>
            </a:xfrm>
          </p:grpSpPr>
          <p:sp>
            <p:nvSpPr>
              <p:cNvPr name="Freeform 9" id="9"/>
              <p:cNvSpPr/>
              <p:nvPr/>
            </p:nvSpPr>
            <p:spPr>
              <a:xfrm flipH="false" flipV="false" rot="0">
                <a:off x="0" y="0"/>
                <a:ext cx="1338538" cy="1852246"/>
              </a:xfrm>
              <a:custGeom>
                <a:avLst/>
                <a:gdLst/>
                <a:ahLst/>
                <a:cxnLst/>
                <a:rect r="r" b="b" t="t" l="l"/>
                <a:pathLst>
                  <a:path h="1852246" w="1338538">
                    <a:moveTo>
                      <a:pt x="75403" y="0"/>
                    </a:moveTo>
                    <a:lnTo>
                      <a:pt x="1263135" y="0"/>
                    </a:lnTo>
                    <a:cubicBezTo>
                      <a:pt x="1283133" y="0"/>
                      <a:pt x="1302312" y="7944"/>
                      <a:pt x="1316453" y="22085"/>
                    </a:cubicBezTo>
                    <a:cubicBezTo>
                      <a:pt x="1330594" y="36226"/>
                      <a:pt x="1338538" y="55405"/>
                      <a:pt x="1338538" y="75403"/>
                    </a:cubicBezTo>
                    <a:lnTo>
                      <a:pt x="1338538" y="1776843"/>
                    </a:lnTo>
                    <a:cubicBezTo>
                      <a:pt x="1338538" y="1818487"/>
                      <a:pt x="1304779" y="1852246"/>
                      <a:pt x="1263135" y="1852246"/>
                    </a:cubicBezTo>
                    <a:lnTo>
                      <a:pt x="75403" y="1852246"/>
                    </a:lnTo>
                    <a:cubicBezTo>
                      <a:pt x="33759" y="1852246"/>
                      <a:pt x="0" y="1818487"/>
                      <a:pt x="0" y="1776843"/>
                    </a:cubicBezTo>
                    <a:lnTo>
                      <a:pt x="0" y="75403"/>
                    </a:lnTo>
                    <a:cubicBezTo>
                      <a:pt x="0" y="33759"/>
                      <a:pt x="33759" y="0"/>
                      <a:pt x="75403" y="0"/>
                    </a:cubicBezTo>
                    <a:close/>
                  </a:path>
                </a:pathLst>
              </a:custGeom>
              <a:ln w="66675" cap="rnd">
                <a:solidFill>
                  <a:srgbClr val="5CA3B2"/>
                </a:solidFill>
                <a:prstDash val="solid"/>
                <a:round/>
              </a:ln>
            </p:spPr>
          </p:sp>
          <p:sp>
            <p:nvSpPr>
              <p:cNvPr name="TextBox 10" id="10"/>
              <p:cNvSpPr txBox="true"/>
              <p:nvPr/>
            </p:nvSpPr>
            <p:spPr>
              <a:xfrm>
                <a:off x="0" y="-66675"/>
                <a:ext cx="1338538" cy="1918921"/>
              </a:xfrm>
              <a:prstGeom prst="rect">
                <a:avLst/>
              </a:prstGeom>
            </p:spPr>
            <p:txBody>
              <a:bodyPr anchor="ctr" rtlCol="false" tIns="52340" lIns="52340" bIns="52340" rIns="52340"/>
              <a:lstStyle/>
              <a:p>
                <a:pPr algn="ctr">
                  <a:lnSpc>
                    <a:spcPts val="3499"/>
                  </a:lnSpc>
                </a:pPr>
              </a:p>
            </p:txBody>
          </p:sp>
        </p:grpSp>
        <p:sp>
          <p:nvSpPr>
            <p:cNvPr name="TextBox 11" id="11"/>
            <p:cNvSpPr txBox="true"/>
            <p:nvPr/>
          </p:nvSpPr>
          <p:spPr>
            <a:xfrm rot="0">
              <a:off x="888551" y="764744"/>
              <a:ext cx="5236667" cy="1785183"/>
            </a:xfrm>
            <a:prstGeom prst="rect">
              <a:avLst/>
            </a:prstGeom>
          </p:spPr>
          <p:txBody>
            <a:bodyPr anchor="t" rtlCol="false" tIns="0" lIns="0" bIns="0" rIns="0">
              <a:spAutoFit/>
            </a:bodyPr>
            <a:lstStyle/>
            <a:p>
              <a:pPr algn="ctr">
                <a:lnSpc>
                  <a:spcPts val="3606"/>
                </a:lnSpc>
              </a:pPr>
              <a:r>
                <a:rPr lang="en-US" b="true" sz="2575">
                  <a:solidFill>
                    <a:srgbClr val="FFFFFF"/>
                  </a:solidFill>
                  <a:latin typeface="Poppins Bold"/>
                  <a:ea typeface="Poppins Bold"/>
                  <a:cs typeface="Poppins Bold"/>
                  <a:sym typeface="Poppins Bold"/>
                </a:rPr>
                <a:t>DNS Query Berhasil Melakukan Resolusi Domain</a:t>
              </a:r>
            </a:p>
          </p:txBody>
        </p:sp>
        <p:sp>
          <p:nvSpPr>
            <p:cNvPr name="TextBox 12" id="12"/>
            <p:cNvSpPr txBox="true"/>
            <p:nvPr/>
          </p:nvSpPr>
          <p:spPr>
            <a:xfrm rot="0">
              <a:off x="378301" y="3397024"/>
              <a:ext cx="6225217" cy="5477149"/>
            </a:xfrm>
            <a:prstGeom prst="rect">
              <a:avLst/>
            </a:prstGeom>
          </p:spPr>
          <p:txBody>
            <a:bodyPr anchor="t" rtlCol="false" tIns="0" lIns="0" bIns="0" rIns="0">
              <a:spAutoFit/>
            </a:bodyPr>
            <a:lstStyle/>
            <a:p>
              <a:pPr algn="just">
                <a:lnSpc>
                  <a:spcPts val="2744"/>
                </a:lnSpc>
              </a:pPr>
              <a:r>
                <a:rPr lang="en-US" sz="1960">
                  <a:solidFill>
                    <a:srgbClr val="FFFFFF"/>
                  </a:solidFill>
                  <a:latin typeface="Poppins"/>
                  <a:ea typeface="Poppins"/>
                  <a:cs typeface="Poppins"/>
                  <a:sym typeface="Poppins"/>
                </a:rPr>
                <a:t>Terlihat request DNS dari : </a:t>
              </a:r>
            </a:p>
            <a:p>
              <a:pPr algn="just">
                <a:lnSpc>
                  <a:spcPts val="2744"/>
                </a:lnSpc>
              </a:pPr>
              <a:r>
                <a:rPr lang="en-US" sz="1960">
                  <a:solidFill>
                    <a:srgbClr val="FFFFFF"/>
                  </a:solidFill>
                  <a:latin typeface="Poppins"/>
                  <a:ea typeface="Poppins"/>
                  <a:cs typeface="Poppins"/>
                  <a:sym typeface="Poppins"/>
                </a:rPr>
                <a:t>172.20.28.54 → 208.67.220.123</a:t>
              </a:r>
            </a:p>
            <a:p>
              <a:pPr algn="just">
                <a:lnSpc>
                  <a:spcPts val="2744"/>
                </a:lnSpc>
              </a:pPr>
            </a:p>
            <a:p>
              <a:pPr algn="just">
                <a:lnSpc>
                  <a:spcPts val="2744"/>
                </a:lnSpc>
              </a:pPr>
              <a:r>
                <a:rPr lang="en-US" sz="1960">
                  <a:solidFill>
                    <a:srgbClr val="FFFFFF"/>
                  </a:solidFill>
                  <a:latin typeface="Poppins"/>
                  <a:ea typeface="Poppins"/>
                  <a:cs typeface="Poppins"/>
                  <a:sym typeface="Poppins"/>
                </a:rPr>
                <a:t>Analisis :</a:t>
              </a:r>
            </a:p>
            <a:p>
              <a:pPr algn="just">
                <a:lnSpc>
                  <a:spcPts val="2744"/>
                </a:lnSpc>
                <a:spcBef>
                  <a:spcPct val="0"/>
                </a:spcBef>
              </a:pPr>
              <a:r>
                <a:rPr lang="en-US" sz="1960">
                  <a:solidFill>
                    <a:srgbClr val="FFFFFF"/>
                  </a:solidFill>
                  <a:latin typeface="Poppins"/>
                  <a:ea typeface="Poppins"/>
                  <a:cs typeface="Poppins"/>
                  <a:sym typeface="Poppins"/>
                </a:rPr>
                <a:t>Sebelum Postman dapat mengirim request API, sistem harus menerjemahkan nama domain menjadi alamat IP menggunakan DNS. Capture menunjukkan proses DNS berjalan normal dan server DNS berhasil memberikan respons berupa alamat IP tujuan.</a:t>
              </a:r>
            </a:p>
          </p:txBody>
        </p:sp>
        <p:sp>
          <p:nvSpPr>
            <p:cNvPr name="AutoShape 13" id="13"/>
            <p:cNvSpPr/>
            <p:nvPr/>
          </p:nvSpPr>
          <p:spPr>
            <a:xfrm>
              <a:off x="0" y="3003324"/>
              <a:ext cx="6981819" cy="0"/>
            </a:xfrm>
            <a:prstGeom prst="line">
              <a:avLst/>
            </a:prstGeom>
            <a:ln cap="flat" w="88900">
              <a:solidFill>
                <a:srgbClr val="5CA3B2"/>
              </a:solidFill>
              <a:prstDash val="solid"/>
              <a:headEnd type="none" len="sm" w="sm"/>
              <a:tailEnd type="none" len="sm" w="sm"/>
            </a:ln>
          </p:spPr>
        </p:sp>
      </p:grpSp>
      <p:sp>
        <p:nvSpPr>
          <p:cNvPr name="Freeform 14" id="14"/>
          <p:cNvSpPr/>
          <p:nvPr/>
        </p:nvSpPr>
        <p:spPr>
          <a:xfrm flipH="false" flipV="false" rot="0">
            <a:off x="443445" y="451154"/>
            <a:ext cx="860834" cy="1002427"/>
          </a:xfrm>
          <a:custGeom>
            <a:avLst/>
            <a:gdLst/>
            <a:ahLst/>
            <a:cxnLst/>
            <a:rect r="r" b="b" t="t" l="l"/>
            <a:pathLst>
              <a:path h="1002427" w="860834">
                <a:moveTo>
                  <a:pt x="0" y="0"/>
                </a:moveTo>
                <a:lnTo>
                  <a:pt x="860835" y="0"/>
                </a:lnTo>
                <a:lnTo>
                  <a:pt x="860835"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6738877" y="2012308"/>
            <a:ext cx="4833548" cy="7245992"/>
            <a:chOff x="0" y="0"/>
            <a:chExt cx="6444731" cy="9661322"/>
          </a:xfrm>
        </p:grpSpPr>
        <p:grpSp>
          <p:nvGrpSpPr>
            <p:cNvPr name="Group 16" id="16"/>
            <p:cNvGrpSpPr/>
            <p:nvPr/>
          </p:nvGrpSpPr>
          <p:grpSpPr>
            <a:xfrm rot="0">
              <a:off x="0" y="0"/>
              <a:ext cx="6430019" cy="9661322"/>
              <a:chOff x="0" y="0"/>
              <a:chExt cx="1232748" cy="1852246"/>
            </a:xfrm>
          </p:grpSpPr>
          <p:sp>
            <p:nvSpPr>
              <p:cNvPr name="Freeform 17" id="17"/>
              <p:cNvSpPr/>
              <p:nvPr/>
            </p:nvSpPr>
            <p:spPr>
              <a:xfrm flipH="false" flipV="false" rot="0">
                <a:off x="0" y="0"/>
                <a:ext cx="1232748" cy="1852246"/>
              </a:xfrm>
              <a:custGeom>
                <a:avLst/>
                <a:gdLst/>
                <a:ahLst/>
                <a:cxnLst/>
                <a:rect r="r" b="b" t="t" l="l"/>
                <a:pathLst>
                  <a:path h="1852246" w="1232748">
                    <a:moveTo>
                      <a:pt x="81874" y="0"/>
                    </a:moveTo>
                    <a:lnTo>
                      <a:pt x="1150874" y="0"/>
                    </a:lnTo>
                    <a:cubicBezTo>
                      <a:pt x="1172589" y="0"/>
                      <a:pt x="1193414" y="8626"/>
                      <a:pt x="1208768" y="23980"/>
                    </a:cubicBezTo>
                    <a:cubicBezTo>
                      <a:pt x="1224122" y="39335"/>
                      <a:pt x="1232748" y="60160"/>
                      <a:pt x="1232748" y="81874"/>
                    </a:cubicBezTo>
                    <a:lnTo>
                      <a:pt x="1232748" y="1770372"/>
                    </a:lnTo>
                    <a:cubicBezTo>
                      <a:pt x="1232748" y="1792087"/>
                      <a:pt x="1224122" y="1812912"/>
                      <a:pt x="1208768" y="1828266"/>
                    </a:cubicBezTo>
                    <a:cubicBezTo>
                      <a:pt x="1193414" y="1843620"/>
                      <a:pt x="1172589" y="1852246"/>
                      <a:pt x="1150874" y="1852246"/>
                    </a:cubicBezTo>
                    <a:lnTo>
                      <a:pt x="81874" y="1852246"/>
                    </a:lnTo>
                    <a:cubicBezTo>
                      <a:pt x="60160" y="1852246"/>
                      <a:pt x="39335" y="1843620"/>
                      <a:pt x="23980" y="1828266"/>
                    </a:cubicBezTo>
                    <a:cubicBezTo>
                      <a:pt x="8626" y="1812912"/>
                      <a:pt x="0" y="1792087"/>
                      <a:pt x="0" y="1770372"/>
                    </a:cubicBezTo>
                    <a:lnTo>
                      <a:pt x="0" y="81874"/>
                    </a:lnTo>
                    <a:cubicBezTo>
                      <a:pt x="0" y="60160"/>
                      <a:pt x="8626" y="39335"/>
                      <a:pt x="23980" y="23980"/>
                    </a:cubicBezTo>
                    <a:cubicBezTo>
                      <a:pt x="39335" y="8626"/>
                      <a:pt x="60160" y="0"/>
                      <a:pt x="81874" y="0"/>
                    </a:cubicBezTo>
                    <a:close/>
                  </a:path>
                </a:pathLst>
              </a:custGeom>
              <a:ln w="66675" cap="rnd">
                <a:solidFill>
                  <a:srgbClr val="5CA3B2"/>
                </a:solidFill>
                <a:prstDash val="solid"/>
                <a:round/>
              </a:ln>
            </p:spPr>
          </p:sp>
          <p:sp>
            <p:nvSpPr>
              <p:cNvPr name="TextBox 18" id="18"/>
              <p:cNvSpPr txBox="true"/>
              <p:nvPr/>
            </p:nvSpPr>
            <p:spPr>
              <a:xfrm>
                <a:off x="0" y="-66675"/>
                <a:ext cx="1232748" cy="1918921"/>
              </a:xfrm>
              <a:prstGeom prst="rect">
                <a:avLst/>
              </a:prstGeom>
            </p:spPr>
            <p:txBody>
              <a:bodyPr anchor="ctr" rtlCol="false" tIns="52340" lIns="52340" bIns="52340" rIns="52340"/>
              <a:lstStyle/>
              <a:p>
                <a:pPr algn="ctr">
                  <a:lnSpc>
                    <a:spcPts val="3499"/>
                  </a:lnSpc>
                </a:pPr>
              </a:p>
            </p:txBody>
          </p:sp>
        </p:grpSp>
        <p:sp>
          <p:nvSpPr>
            <p:cNvPr name="TextBox 19" id="19"/>
            <p:cNvSpPr txBox="true"/>
            <p:nvPr/>
          </p:nvSpPr>
          <p:spPr>
            <a:xfrm rot="0">
              <a:off x="818325" y="735769"/>
              <a:ext cx="4822792" cy="1183269"/>
            </a:xfrm>
            <a:prstGeom prst="rect">
              <a:avLst/>
            </a:prstGeom>
          </p:spPr>
          <p:txBody>
            <a:bodyPr anchor="t" rtlCol="false" tIns="0" lIns="0" bIns="0" rIns="0">
              <a:spAutoFit/>
            </a:bodyPr>
            <a:lstStyle/>
            <a:p>
              <a:pPr algn="ctr">
                <a:lnSpc>
                  <a:spcPts val="3606"/>
                </a:lnSpc>
              </a:pPr>
              <a:r>
                <a:rPr lang="en-US" b="true" sz="2575">
                  <a:solidFill>
                    <a:srgbClr val="FFFFFF"/>
                  </a:solidFill>
                  <a:latin typeface="Poppins Bold"/>
                  <a:ea typeface="Poppins Bold"/>
                  <a:cs typeface="Poppins Bold"/>
                  <a:sym typeface="Poppins Bold"/>
                </a:rPr>
                <a:t>Terjadi TCP Three-Way Handshake</a:t>
              </a:r>
            </a:p>
          </p:txBody>
        </p:sp>
        <p:sp>
          <p:nvSpPr>
            <p:cNvPr name="TextBox 20" id="20"/>
            <p:cNvSpPr txBox="true"/>
            <p:nvPr/>
          </p:nvSpPr>
          <p:spPr>
            <a:xfrm rot="0">
              <a:off x="348402" y="4513340"/>
              <a:ext cx="5733214" cy="905149"/>
            </a:xfrm>
            <a:prstGeom prst="rect">
              <a:avLst/>
            </a:prstGeom>
          </p:spPr>
          <p:txBody>
            <a:bodyPr anchor="t" rtlCol="false" tIns="0" lIns="0" bIns="0" rIns="0">
              <a:spAutoFit/>
            </a:bodyPr>
            <a:lstStyle/>
            <a:p>
              <a:pPr algn="just">
                <a:lnSpc>
                  <a:spcPts val="2744"/>
                </a:lnSpc>
              </a:pPr>
              <a:r>
                <a:rPr lang="en-US" sz="1960">
                  <a:solidFill>
                    <a:srgbClr val="FFFFFF"/>
                  </a:solidFill>
                  <a:latin typeface="Poppins"/>
                  <a:ea typeface="Poppins"/>
                  <a:cs typeface="Poppins"/>
                  <a:sym typeface="Poppins"/>
                </a:rPr>
                <a:t>Pada filter TCP ditemukan :</a:t>
              </a:r>
            </a:p>
            <a:p>
              <a:pPr algn="just">
                <a:lnSpc>
                  <a:spcPts val="2744"/>
                </a:lnSpc>
                <a:spcBef>
                  <a:spcPct val="0"/>
                </a:spcBef>
              </a:pPr>
            </a:p>
          </p:txBody>
        </p:sp>
        <p:sp>
          <p:nvSpPr>
            <p:cNvPr name="AutoShape 21" id="21"/>
            <p:cNvSpPr/>
            <p:nvPr/>
          </p:nvSpPr>
          <p:spPr>
            <a:xfrm>
              <a:off x="14712" y="2929713"/>
              <a:ext cx="6430019" cy="0"/>
            </a:xfrm>
            <a:prstGeom prst="line">
              <a:avLst/>
            </a:prstGeom>
            <a:ln cap="flat" w="88900">
              <a:solidFill>
                <a:srgbClr val="5CA3B2"/>
              </a:solidFill>
              <a:prstDash val="solid"/>
              <a:headEnd type="none" len="sm" w="sm"/>
              <a:tailEnd type="none" len="sm" w="sm"/>
            </a:ln>
          </p:spPr>
        </p:sp>
        <p:sp>
          <p:nvSpPr>
            <p:cNvPr name="TextBox 22" id="22"/>
            <p:cNvSpPr txBox="true"/>
            <p:nvPr/>
          </p:nvSpPr>
          <p:spPr>
            <a:xfrm rot="0">
              <a:off x="363114" y="5067637"/>
              <a:ext cx="5733214" cy="1326303"/>
            </a:xfrm>
            <a:prstGeom prst="rect">
              <a:avLst/>
            </a:prstGeom>
          </p:spPr>
          <p:txBody>
            <a:bodyPr anchor="t" rtlCol="false" tIns="0" lIns="0" bIns="0" rIns="0">
              <a:spAutoFit/>
            </a:bodyPr>
            <a:lstStyle/>
            <a:p>
              <a:pPr algn="l">
                <a:lnSpc>
                  <a:spcPts val="2660"/>
                </a:lnSpc>
                <a:spcBef>
                  <a:spcPct val="0"/>
                </a:spcBef>
              </a:pPr>
              <a:r>
                <a:rPr lang="en-US" sz="1900">
                  <a:solidFill>
                    <a:srgbClr val="FFFFFF"/>
                  </a:solidFill>
                  <a:latin typeface="Poppins"/>
                  <a:ea typeface="Poppins"/>
                  <a:cs typeface="Poppins"/>
                  <a:sym typeface="Poppins"/>
                </a:rPr>
                <a:t>64322 → 80 [SYN]</a:t>
              </a:r>
            </a:p>
            <a:p>
              <a:pPr algn="l">
                <a:lnSpc>
                  <a:spcPts val="2660"/>
                </a:lnSpc>
                <a:spcBef>
                  <a:spcPct val="0"/>
                </a:spcBef>
              </a:pPr>
              <a:r>
                <a:rPr lang="en-US" sz="1900">
                  <a:solidFill>
                    <a:srgbClr val="FFFFFF"/>
                  </a:solidFill>
                  <a:latin typeface="Poppins"/>
                  <a:ea typeface="Poppins"/>
                  <a:cs typeface="Poppins"/>
                  <a:sym typeface="Poppins"/>
                </a:rPr>
                <a:t>80 → 64322 [SYN, ACK]</a:t>
              </a:r>
            </a:p>
            <a:p>
              <a:pPr algn="l">
                <a:lnSpc>
                  <a:spcPts val="2660"/>
                </a:lnSpc>
                <a:spcBef>
                  <a:spcPct val="0"/>
                </a:spcBef>
              </a:pPr>
              <a:r>
                <a:rPr lang="en-US" sz="1900">
                  <a:solidFill>
                    <a:srgbClr val="FFFFFF"/>
                  </a:solidFill>
                  <a:latin typeface="Poppins"/>
                  <a:ea typeface="Poppins"/>
                  <a:cs typeface="Poppins"/>
                  <a:sym typeface="Poppins"/>
                </a:rPr>
                <a:t>64322 → 80 [ACK]</a:t>
              </a:r>
            </a:p>
          </p:txBody>
        </p:sp>
        <p:sp>
          <p:nvSpPr>
            <p:cNvPr name="TextBox 23" id="23"/>
            <p:cNvSpPr txBox="true"/>
            <p:nvPr/>
          </p:nvSpPr>
          <p:spPr>
            <a:xfrm rot="0">
              <a:off x="363114" y="6884916"/>
              <a:ext cx="5733214" cy="2659803"/>
            </a:xfrm>
            <a:prstGeom prst="rect">
              <a:avLst/>
            </a:prstGeom>
          </p:spPr>
          <p:txBody>
            <a:bodyPr anchor="t" rtlCol="false" tIns="0" lIns="0" bIns="0" rIns="0">
              <a:spAutoFit/>
            </a:bodyPr>
            <a:lstStyle/>
            <a:p>
              <a:pPr algn="l">
                <a:lnSpc>
                  <a:spcPts val="2660"/>
                </a:lnSpc>
              </a:pPr>
              <a:r>
                <a:rPr lang="en-US" sz="1900">
                  <a:solidFill>
                    <a:srgbClr val="FFFFFF"/>
                  </a:solidFill>
                  <a:latin typeface="Poppins"/>
                  <a:ea typeface="Poppins"/>
                  <a:cs typeface="Poppins"/>
                  <a:sym typeface="Poppins"/>
                </a:rPr>
                <a:t>Pola ini menunjukkan proses pembentukan koneksi TCP berhasil dilakukan. S</a:t>
              </a:r>
              <a:r>
                <a:rPr lang="en-US" sz="1900">
                  <a:solidFill>
                    <a:srgbClr val="FFFFFF"/>
                  </a:solidFill>
                  <a:latin typeface="Poppins"/>
                  <a:ea typeface="Poppins"/>
                  <a:cs typeface="Poppins"/>
                  <a:sym typeface="Poppins"/>
                </a:rPr>
                <a:t>etelah tahap ini koneksi siap digunakan untuk pertukaran data HTTP.</a:t>
              </a:r>
            </a:p>
            <a:p>
              <a:pPr algn="l">
                <a:lnSpc>
                  <a:spcPts val="2660"/>
                </a:lnSpc>
                <a:spcBef>
                  <a:spcPct val="0"/>
                </a:spcBef>
              </a:pPr>
            </a:p>
          </p:txBody>
        </p:sp>
        <p:sp>
          <p:nvSpPr>
            <p:cNvPr name="TextBox 24" id="24"/>
            <p:cNvSpPr txBox="true"/>
            <p:nvPr/>
          </p:nvSpPr>
          <p:spPr>
            <a:xfrm rot="0">
              <a:off x="348402" y="3250358"/>
              <a:ext cx="5733214" cy="1326303"/>
            </a:xfrm>
            <a:prstGeom prst="rect">
              <a:avLst/>
            </a:prstGeom>
          </p:spPr>
          <p:txBody>
            <a:bodyPr anchor="t" rtlCol="false" tIns="0" lIns="0" bIns="0" rIns="0">
              <a:spAutoFit/>
            </a:bodyPr>
            <a:lstStyle/>
            <a:p>
              <a:pPr algn="l">
                <a:lnSpc>
                  <a:spcPts val="2660"/>
                </a:lnSpc>
              </a:pPr>
              <a:r>
                <a:rPr lang="en-US" sz="1900">
                  <a:solidFill>
                    <a:srgbClr val="FFFFFF"/>
                  </a:solidFill>
                  <a:latin typeface="Poppins"/>
                  <a:ea typeface="Poppins"/>
                  <a:cs typeface="Poppins"/>
                  <a:sym typeface="Poppins"/>
                </a:rPr>
                <a:t>Menggunakan port 443 karena ini adalah port standar untuk HTTPS. </a:t>
              </a:r>
            </a:p>
            <a:p>
              <a:pPr algn="l">
                <a:lnSpc>
                  <a:spcPts val="2660"/>
                </a:lnSpc>
                <a:spcBef>
                  <a:spcPct val="0"/>
                </a:spcBef>
              </a:pPr>
            </a:p>
          </p:txBody>
        </p:sp>
      </p:grpSp>
      <p:grpSp>
        <p:nvGrpSpPr>
          <p:cNvPr name="Group 25" id="25"/>
          <p:cNvGrpSpPr/>
          <p:nvPr/>
        </p:nvGrpSpPr>
        <p:grpSpPr>
          <a:xfrm rot="0">
            <a:off x="12196498" y="2012308"/>
            <a:ext cx="5062802" cy="7245992"/>
            <a:chOff x="0" y="0"/>
            <a:chExt cx="6750403" cy="9661322"/>
          </a:xfrm>
        </p:grpSpPr>
        <p:grpSp>
          <p:nvGrpSpPr>
            <p:cNvPr name="Group 26" id="26"/>
            <p:cNvGrpSpPr/>
            <p:nvPr/>
          </p:nvGrpSpPr>
          <p:grpSpPr>
            <a:xfrm rot="0">
              <a:off x="0" y="0"/>
              <a:ext cx="6734993" cy="9661322"/>
              <a:chOff x="0" y="0"/>
              <a:chExt cx="1291217" cy="1852246"/>
            </a:xfrm>
          </p:grpSpPr>
          <p:sp>
            <p:nvSpPr>
              <p:cNvPr name="Freeform 27" id="27"/>
              <p:cNvSpPr/>
              <p:nvPr/>
            </p:nvSpPr>
            <p:spPr>
              <a:xfrm flipH="false" flipV="false" rot="0">
                <a:off x="0" y="0"/>
                <a:ext cx="1291217" cy="1852246"/>
              </a:xfrm>
              <a:custGeom>
                <a:avLst/>
                <a:gdLst/>
                <a:ahLst/>
                <a:cxnLst/>
                <a:rect r="r" b="b" t="t" l="l"/>
                <a:pathLst>
                  <a:path h="1852246" w="1291217">
                    <a:moveTo>
                      <a:pt x="78166" y="0"/>
                    </a:moveTo>
                    <a:lnTo>
                      <a:pt x="1213051" y="0"/>
                    </a:lnTo>
                    <a:cubicBezTo>
                      <a:pt x="1233782" y="0"/>
                      <a:pt x="1253664" y="8235"/>
                      <a:pt x="1268323" y="22894"/>
                    </a:cubicBezTo>
                    <a:cubicBezTo>
                      <a:pt x="1282982" y="37553"/>
                      <a:pt x="1291217" y="57435"/>
                      <a:pt x="1291217" y="78166"/>
                    </a:cubicBezTo>
                    <a:lnTo>
                      <a:pt x="1291217" y="1774080"/>
                    </a:lnTo>
                    <a:cubicBezTo>
                      <a:pt x="1291217" y="1794811"/>
                      <a:pt x="1282982" y="1814693"/>
                      <a:pt x="1268323" y="1829352"/>
                    </a:cubicBezTo>
                    <a:cubicBezTo>
                      <a:pt x="1253664" y="1844011"/>
                      <a:pt x="1233782" y="1852246"/>
                      <a:pt x="1213051" y="1852246"/>
                    </a:cubicBezTo>
                    <a:lnTo>
                      <a:pt x="78166" y="1852246"/>
                    </a:lnTo>
                    <a:cubicBezTo>
                      <a:pt x="57435" y="1852246"/>
                      <a:pt x="37553" y="1844011"/>
                      <a:pt x="22894" y="1829352"/>
                    </a:cubicBezTo>
                    <a:cubicBezTo>
                      <a:pt x="8235" y="1814693"/>
                      <a:pt x="0" y="1794811"/>
                      <a:pt x="0" y="1774080"/>
                    </a:cubicBezTo>
                    <a:lnTo>
                      <a:pt x="0" y="78166"/>
                    </a:lnTo>
                    <a:cubicBezTo>
                      <a:pt x="0" y="57435"/>
                      <a:pt x="8235" y="37553"/>
                      <a:pt x="22894" y="22894"/>
                    </a:cubicBezTo>
                    <a:cubicBezTo>
                      <a:pt x="37553" y="8235"/>
                      <a:pt x="57435" y="0"/>
                      <a:pt x="78166" y="0"/>
                    </a:cubicBezTo>
                    <a:close/>
                  </a:path>
                </a:pathLst>
              </a:custGeom>
              <a:ln w="66675" cap="rnd">
                <a:solidFill>
                  <a:srgbClr val="5CA3B2"/>
                </a:solidFill>
                <a:prstDash val="solid"/>
                <a:round/>
              </a:ln>
            </p:spPr>
          </p:sp>
          <p:sp>
            <p:nvSpPr>
              <p:cNvPr name="TextBox 28" id="28"/>
              <p:cNvSpPr txBox="true"/>
              <p:nvPr/>
            </p:nvSpPr>
            <p:spPr>
              <a:xfrm>
                <a:off x="0" y="-66675"/>
                <a:ext cx="1291217" cy="1918921"/>
              </a:xfrm>
              <a:prstGeom prst="rect">
                <a:avLst/>
              </a:prstGeom>
            </p:spPr>
            <p:txBody>
              <a:bodyPr anchor="ctr" rtlCol="false" tIns="52340" lIns="52340" bIns="52340" rIns="52340"/>
              <a:lstStyle/>
              <a:p>
                <a:pPr algn="ctr">
                  <a:lnSpc>
                    <a:spcPts val="3499"/>
                  </a:lnSpc>
                </a:pPr>
              </a:p>
            </p:txBody>
          </p:sp>
        </p:grpSp>
        <p:sp>
          <p:nvSpPr>
            <p:cNvPr name="TextBox 29" id="29"/>
            <p:cNvSpPr txBox="true"/>
            <p:nvPr/>
          </p:nvSpPr>
          <p:spPr>
            <a:xfrm rot="0">
              <a:off x="857138" y="735769"/>
              <a:ext cx="5051536" cy="1183269"/>
            </a:xfrm>
            <a:prstGeom prst="rect">
              <a:avLst/>
            </a:prstGeom>
          </p:spPr>
          <p:txBody>
            <a:bodyPr anchor="t" rtlCol="false" tIns="0" lIns="0" bIns="0" rIns="0">
              <a:spAutoFit/>
            </a:bodyPr>
            <a:lstStyle/>
            <a:p>
              <a:pPr algn="ctr">
                <a:lnSpc>
                  <a:spcPts val="3606"/>
                </a:lnSpc>
              </a:pPr>
              <a:r>
                <a:rPr lang="en-US" b="true" sz="2575">
                  <a:solidFill>
                    <a:srgbClr val="FFFFFF"/>
                  </a:solidFill>
                  <a:latin typeface="Poppins Bold"/>
                  <a:ea typeface="Poppins Bold"/>
                  <a:cs typeface="Poppins Bold"/>
                  <a:sym typeface="Poppins Bold"/>
                </a:rPr>
                <a:t>HTTPS yang Tidak Terbaca</a:t>
              </a:r>
            </a:p>
          </p:txBody>
        </p:sp>
        <p:sp>
          <p:nvSpPr>
            <p:cNvPr name="AutoShape 30" id="30"/>
            <p:cNvSpPr/>
            <p:nvPr/>
          </p:nvSpPr>
          <p:spPr>
            <a:xfrm>
              <a:off x="15410" y="2929713"/>
              <a:ext cx="6734993" cy="0"/>
            </a:xfrm>
            <a:prstGeom prst="line">
              <a:avLst/>
            </a:prstGeom>
            <a:ln cap="flat" w="88900">
              <a:solidFill>
                <a:srgbClr val="5CA3B2"/>
              </a:solidFill>
              <a:prstDash val="solid"/>
              <a:headEnd type="none" len="sm" w="sm"/>
              <a:tailEnd type="none" len="sm" w="sm"/>
            </a:ln>
          </p:spPr>
        </p:sp>
        <p:sp>
          <p:nvSpPr>
            <p:cNvPr name="TextBox 31" id="31"/>
            <p:cNvSpPr txBox="true"/>
            <p:nvPr/>
          </p:nvSpPr>
          <p:spPr>
            <a:xfrm rot="0">
              <a:off x="380337" y="4196581"/>
              <a:ext cx="6005139" cy="437303"/>
            </a:xfrm>
            <a:prstGeom prst="rect">
              <a:avLst/>
            </a:prstGeom>
          </p:spPr>
          <p:txBody>
            <a:bodyPr anchor="t" rtlCol="false" tIns="0" lIns="0" bIns="0" rIns="0">
              <a:spAutoFit/>
            </a:bodyPr>
            <a:lstStyle/>
            <a:p>
              <a:pPr algn="l">
                <a:lnSpc>
                  <a:spcPts val="2660"/>
                </a:lnSpc>
                <a:spcBef>
                  <a:spcPct val="0"/>
                </a:spcBef>
              </a:pPr>
            </a:p>
          </p:txBody>
        </p:sp>
        <p:sp>
          <p:nvSpPr>
            <p:cNvPr name="TextBox 32" id="32"/>
            <p:cNvSpPr txBox="true"/>
            <p:nvPr/>
          </p:nvSpPr>
          <p:spPr>
            <a:xfrm rot="0">
              <a:off x="380337" y="3559392"/>
              <a:ext cx="6005139" cy="4882303"/>
            </a:xfrm>
            <a:prstGeom prst="rect">
              <a:avLst/>
            </a:prstGeom>
          </p:spPr>
          <p:txBody>
            <a:bodyPr anchor="t" rtlCol="false" tIns="0" lIns="0" bIns="0" rIns="0">
              <a:spAutoFit/>
            </a:bodyPr>
            <a:lstStyle/>
            <a:p>
              <a:pPr algn="l">
                <a:lnSpc>
                  <a:spcPts val="2660"/>
                </a:lnSpc>
              </a:pPr>
              <a:r>
                <a:rPr lang="en-US" sz="1900">
                  <a:solidFill>
                    <a:srgbClr val="FFFFFF"/>
                  </a:solidFill>
                  <a:latin typeface="Poppins"/>
                  <a:ea typeface="Poppins"/>
                  <a:cs typeface="Poppins"/>
                  <a:sym typeface="Poppins"/>
                </a:rPr>
                <a:t>Paket TLSv1.2 dengan port 443 menunjukkan komunikasi menggunakan HTTPS. Pada Wireshark hanya terlihat "Application Data" dan isi request maupun response tidak dapat dibaca secara langsung. Hal ini terjadi karena data telah dienkripsi oleh TLS untuk menjaga keamanan komunikasi antara client dan server.</a:t>
              </a:r>
            </a:p>
            <a:p>
              <a:pPr algn="l">
                <a:lnSpc>
                  <a:spcPts val="2660"/>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1028700" y="1896694"/>
          <a:ext cx="7523390" cy="7655614"/>
        </p:xfrm>
        <a:graphic>
          <a:graphicData uri="http://schemas.openxmlformats.org/drawingml/2006/table">
            <a:tbl>
              <a:tblPr/>
              <a:tblGrid>
                <a:gridCol w="1863732"/>
                <a:gridCol w="2588865"/>
                <a:gridCol w="3070793"/>
              </a:tblGrid>
              <a:tr h="1636939">
                <a:tc>
                  <a:txBody>
                    <a:bodyPr anchor="t" rtlCol="false"/>
                    <a:lstStyle/>
                    <a:p>
                      <a:pPr algn="ctr">
                        <a:lnSpc>
                          <a:spcPts val="4199"/>
                        </a:lnSpc>
                        <a:defRPr/>
                      </a:pPr>
                      <a:r>
                        <a:rPr lang="en-US" sz="2999" b="true">
                          <a:solidFill>
                            <a:srgbClr val="E3E8FF"/>
                          </a:solidFill>
                          <a:latin typeface="Poppins Bold"/>
                          <a:ea typeface="Poppins Bold"/>
                          <a:cs typeface="Poppins Bold"/>
                          <a:sym typeface="Poppins Bold"/>
                        </a:rPr>
                        <a:t>Field</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F6C7E"/>
                    </a:solidFill>
                  </a:tcPr>
                </a:tc>
                <a:tc>
                  <a:txBody>
                    <a:bodyPr anchor="t" rtlCol="false"/>
                    <a:lstStyle/>
                    <a:p>
                      <a:pPr algn="ctr">
                        <a:lnSpc>
                          <a:spcPts val="4200"/>
                        </a:lnSpc>
                        <a:defRPr/>
                      </a:pPr>
                      <a:r>
                        <a:rPr lang="en-US" sz="3000" b="true">
                          <a:solidFill>
                            <a:srgbClr val="FFFFFF"/>
                          </a:solidFill>
                          <a:latin typeface="Poppins Bold"/>
                          <a:ea typeface="Poppins Bold"/>
                          <a:cs typeface="Poppins Bold"/>
                          <a:sym typeface="Poppins Bold"/>
                        </a:rPr>
                        <a:t>Tipe Data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F6C7E"/>
                    </a:solidFill>
                  </a:tcPr>
                </a:tc>
                <a:tc>
                  <a:txBody>
                    <a:bodyPr anchor="t" rtlCol="false"/>
                    <a:lstStyle/>
                    <a:p>
                      <a:pPr algn="ctr">
                        <a:lnSpc>
                          <a:spcPts val="4200"/>
                        </a:lnSpc>
                        <a:defRPr/>
                      </a:pPr>
                      <a:r>
                        <a:rPr lang="en-US" sz="3000" b="true">
                          <a:solidFill>
                            <a:srgbClr val="FFFFFF"/>
                          </a:solidFill>
                          <a:latin typeface="Poppins Bold"/>
                          <a:ea typeface="Poppins Bold"/>
                          <a:cs typeface="Poppins Bold"/>
                          <a:sym typeface="Poppins Bold"/>
                        </a:rPr>
                        <a:t>Keterangan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F6C7E"/>
                    </a:solidFill>
                  </a:tcPr>
                </a:tc>
              </a:tr>
              <a:tr h="1033456">
                <a:tc>
                  <a:txBody>
                    <a:bodyPr anchor="t" rtlCol="false"/>
                    <a:lstStyle/>
                    <a:p>
                      <a:pPr algn="ctr">
                        <a:lnSpc>
                          <a:spcPts val="2939"/>
                        </a:lnSpc>
                        <a:defRPr/>
                      </a:pPr>
                      <a:r>
                        <a:rPr lang="en-US" sz="2099">
                          <a:solidFill>
                            <a:srgbClr val="000000"/>
                          </a:solidFill>
                          <a:latin typeface="Poppins"/>
                          <a:ea typeface="Poppins"/>
                          <a:cs typeface="Poppins"/>
                          <a:sym typeface="Poppins"/>
                        </a:rPr>
                        <a:t>id</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940"/>
                        </a:lnSpc>
                        <a:defRPr/>
                      </a:pPr>
                      <a:r>
                        <a:rPr lang="en-US" sz="2100">
                          <a:solidFill>
                            <a:srgbClr val="000000"/>
                          </a:solidFill>
                          <a:latin typeface="Poppins"/>
                          <a:ea typeface="Poppins"/>
                          <a:cs typeface="Poppins"/>
                          <a:sym typeface="Poppins"/>
                        </a:rPr>
                        <a:t>Integer</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Id Pengguna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033456">
                <a:tc>
                  <a:txBody>
                    <a:bodyPr anchor="t" rtlCol="false"/>
                    <a:lstStyle/>
                    <a:p>
                      <a:pPr algn="ctr">
                        <a:lnSpc>
                          <a:spcPts val="2939"/>
                        </a:lnSpc>
                        <a:defRPr/>
                      </a:pPr>
                      <a:r>
                        <a:rPr lang="en-US" sz="2099">
                          <a:solidFill>
                            <a:srgbClr val="000000"/>
                          </a:solidFill>
                          <a:latin typeface="Poppins"/>
                          <a:ea typeface="Poppins"/>
                          <a:cs typeface="Poppins"/>
                          <a:sym typeface="Poppins"/>
                        </a:rPr>
                        <a:t>name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String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Nama Pengguna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036329">
                <a:tc>
                  <a:txBody>
                    <a:bodyPr anchor="t" rtlCol="false"/>
                    <a:lstStyle/>
                    <a:p>
                      <a:pPr algn="ctr">
                        <a:lnSpc>
                          <a:spcPts val="2939"/>
                        </a:lnSpc>
                        <a:defRPr/>
                      </a:pPr>
                      <a:r>
                        <a:rPr lang="en-US" sz="2099">
                          <a:solidFill>
                            <a:srgbClr val="000000"/>
                          </a:solidFill>
                          <a:latin typeface="Poppins"/>
                          <a:ea typeface="Poppins"/>
                          <a:cs typeface="Poppins"/>
                          <a:sym typeface="Poppins"/>
                        </a:rPr>
                        <a:t>email</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String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Email Pengguna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457717">
                <a:tc>
                  <a:txBody>
                    <a:bodyPr anchor="t" rtlCol="false"/>
                    <a:lstStyle/>
                    <a:p>
                      <a:pPr algn="ctr">
                        <a:lnSpc>
                          <a:spcPts val="2939"/>
                        </a:lnSpc>
                        <a:defRPr/>
                      </a:pPr>
                      <a:r>
                        <a:rPr lang="en-US" sz="2099">
                          <a:solidFill>
                            <a:srgbClr val="000000"/>
                          </a:solidFill>
                          <a:latin typeface="Poppins"/>
                          <a:ea typeface="Poppins"/>
                          <a:cs typeface="Poppins"/>
                          <a:sym typeface="Poppins"/>
                        </a:rPr>
                        <a:t>address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Object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Data Alamat Pengguna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457717">
                <a:tc>
                  <a:txBody>
                    <a:bodyPr anchor="t" rtlCol="false"/>
                    <a:lstStyle/>
                    <a:p>
                      <a:pPr algn="ctr">
                        <a:lnSpc>
                          <a:spcPts val="2939"/>
                        </a:lnSpc>
                        <a:defRPr/>
                      </a:pPr>
                      <a:r>
                        <a:rPr lang="en-US" sz="2099">
                          <a:solidFill>
                            <a:srgbClr val="000000"/>
                          </a:solidFill>
                          <a:latin typeface="Poppins"/>
                          <a:ea typeface="Poppins"/>
                          <a:cs typeface="Poppins"/>
                          <a:sym typeface="Poppins"/>
                        </a:rPr>
                        <a:t>phone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String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939"/>
                        </a:lnSpc>
                        <a:defRPr/>
                      </a:pPr>
                      <a:r>
                        <a:rPr lang="en-US" sz="2099">
                          <a:solidFill>
                            <a:srgbClr val="000000"/>
                          </a:solidFill>
                          <a:latin typeface="Poppins"/>
                          <a:ea typeface="Poppins"/>
                          <a:cs typeface="Poppins"/>
                          <a:sym typeface="Poppins"/>
                        </a:rPr>
                        <a:t>Nomor Telepon Pengguna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bl>
          </a:graphicData>
        </a:graphic>
      </p:graphicFrame>
      <p:sp>
        <p:nvSpPr>
          <p:cNvPr name="TextBox 7" id="7"/>
          <p:cNvSpPr txBox="true"/>
          <p:nvPr/>
        </p:nvSpPr>
        <p:spPr>
          <a:xfrm rot="0">
            <a:off x="3102617" y="583248"/>
            <a:ext cx="12790881" cy="976630"/>
          </a:xfrm>
          <a:prstGeom prst="rect">
            <a:avLst/>
          </a:prstGeom>
        </p:spPr>
        <p:txBody>
          <a:bodyPr anchor="t" rtlCol="false" tIns="0" lIns="0" bIns="0" rIns="0">
            <a:spAutoFit/>
          </a:bodyPr>
          <a:lstStyle/>
          <a:p>
            <a:pPr algn="ctr" marL="0" indent="0" lvl="0">
              <a:lnSpc>
                <a:spcPts val="6859"/>
              </a:lnSpc>
            </a:pPr>
            <a:r>
              <a:rPr lang="en-US" b="true" sz="6999">
                <a:solidFill>
                  <a:srgbClr val="FFFFFF"/>
                </a:solidFill>
                <a:latin typeface="Poppins Bold"/>
                <a:ea typeface="Poppins Bold"/>
                <a:cs typeface="Poppins Bold"/>
                <a:sym typeface="Poppins Bold"/>
              </a:rPr>
              <a:t>Data Format Analysis</a:t>
            </a:r>
          </a:p>
        </p:txBody>
      </p:sp>
      <p:sp>
        <p:nvSpPr>
          <p:cNvPr name="TextBox 8" id="8"/>
          <p:cNvSpPr txBox="true"/>
          <p:nvPr/>
        </p:nvSpPr>
        <p:spPr>
          <a:xfrm rot="0">
            <a:off x="8867506" y="2121558"/>
            <a:ext cx="9090145" cy="6664325"/>
          </a:xfrm>
          <a:prstGeom prst="rect">
            <a:avLst/>
          </a:prstGeom>
        </p:spPr>
        <p:txBody>
          <a:bodyPr anchor="t" rtlCol="false" tIns="0" lIns="0" bIns="0" rIns="0">
            <a:spAutoFit/>
          </a:bodyPr>
          <a:lstStyle/>
          <a:p>
            <a:pPr algn="ctr">
              <a:lnSpc>
                <a:spcPts val="4199"/>
              </a:lnSpc>
            </a:pPr>
            <a:r>
              <a:rPr lang="en-US" sz="2999">
                <a:solidFill>
                  <a:srgbClr val="FFFFFF"/>
                </a:solidFill>
                <a:latin typeface="Poppins"/>
                <a:ea typeface="Poppins"/>
                <a:cs typeface="Poppins"/>
                <a:sym typeface="Poppins"/>
              </a:rPr>
              <a:t> Analysis :</a:t>
            </a:r>
          </a:p>
          <a:p>
            <a:pPr algn="l" marL="539749" indent="-269875" lvl="1">
              <a:lnSpc>
                <a:spcPts val="3499"/>
              </a:lnSpc>
              <a:buFont typeface="Arial"/>
              <a:buChar char="•"/>
            </a:pPr>
            <a:r>
              <a:rPr lang="en-US" sz="2499">
                <a:solidFill>
                  <a:srgbClr val="FFFFFF"/>
                </a:solidFill>
                <a:latin typeface="Poppins"/>
                <a:ea typeface="Poppins"/>
                <a:cs typeface="Poppins"/>
                <a:sym typeface="Poppins"/>
              </a:rPr>
              <a:t>Response API menggunakan format JSON yang mudah dibaca dan diproses.</a:t>
            </a:r>
          </a:p>
          <a:p>
            <a:pPr algn="l" marL="539749" indent="-269875" lvl="1">
              <a:lnSpc>
                <a:spcPts val="3499"/>
              </a:lnSpc>
              <a:buFont typeface="Arial"/>
              <a:buChar char="•"/>
            </a:pPr>
            <a:r>
              <a:rPr lang="en-US" sz="2499">
                <a:solidFill>
                  <a:srgbClr val="FFFFFF"/>
                </a:solidFill>
                <a:latin typeface="Poppins"/>
                <a:ea typeface="Poppins"/>
                <a:cs typeface="Poppins"/>
                <a:sym typeface="Poppins"/>
              </a:rPr>
              <a:t>Data tersusun dalam bentuk Array of Objects, sehingga satu response dapat berisi banyak data pengguna.</a:t>
            </a:r>
          </a:p>
          <a:p>
            <a:pPr algn="l" marL="539749" indent="-269875" lvl="1">
              <a:lnSpc>
                <a:spcPts val="3499"/>
              </a:lnSpc>
              <a:buFont typeface="Arial"/>
              <a:buChar char="•"/>
            </a:pPr>
            <a:r>
              <a:rPr lang="en-US" sz="2499">
                <a:solidFill>
                  <a:srgbClr val="FFFFFF"/>
                </a:solidFill>
                <a:latin typeface="Poppins"/>
                <a:ea typeface="Poppins"/>
                <a:cs typeface="Poppins"/>
                <a:sym typeface="Poppins"/>
              </a:rPr>
              <a:t>Terdapat Nested Object pada field address dan company yang digunakan untuk mengelompokkan informasi alamat.</a:t>
            </a:r>
          </a:p>
          <a:p>
            <a:pPr algn="l" marL="539749" indent="-269875" lvl="1">
              <a:lnSpc>
                <a:spcPts val="3499"/>
              </a:lnSpc>
              <a:buFont typeface="Arial"/>
              <a:buChar char="•"/>
            </a:pPr>
            <a:r>
              <a:rPr lang="en-US" sz="2499">
                <a:solidFill>
                  <a:srgbClr val="FFFFFF"/>
                </a:solidFill>
                <a:latin typeface="Poppins"/>
                <a:ea typeface="Poppins"/>
                <a:cs typeface="Poppins"/>
                <a:sym typeface="Poppins"/>
              </a:rPr>
              <a:t>Struktur JSON dapat diparsing menggunakan Python dan dikonversi menjadi DataFrame atau CSV untuk analisis lebih lanjut.</a:t>
            </a:r>
          </a:p>
          <a:p>
            <a:pPr algn="l">
              <a:lnSpc>
                <a:spcPts val="3499"/>
              </a:lnSpc>
            </a:pPr>
          </a:p>
          <a:p>
            <a:pPr algn="l">
              <a:lnSpc>
                <a:spcPts val="3499"/>
              </a:lnSpc>
              <a:spcBef>
                <a:spcPct val="0"/>
              </a:spcBef>
            </a:pPr>
            <a:r>
              <a:rPr lang="en-US" sz="2499">
                <a:solidFill>
                  <a:srgbClr val="FFFFFF"/>
                </a:solidFill>
                <a:latin typeface="Poppins"/>
                <a:ea typeface="Poppins"/>
                <a:cs typeface="Poppins"/>
                <a:sym typeface="Poppins"/>
              </a:rPr>
              <a:t>Notes : field lainnya adalah web (string) dan company (nested object).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101341" y="715226"/>
            <a:ext cx="8085318" cy="1143078"/>
          </a:xfrm>
          <a:prstGeom prst="rect">
            <a:avLst/>
          </a:prstGeom>
        </p:spPr>
        <p:txBody>
          <a:bodyPr anchor="t" rtlCol="false" tIns="0" lIns="0" bIns="0" rIns="0">
            <a:spAutoFit/>
          </a:bodyPr>
          <a:lstStyle/>
          <a:p>
            <a:pPr algn="ctr" marL="0" indent="0" lvl="0">
              <a:lnSpc>
                <a:spcPts val="7988"/>
              </a:lnSpc>
            </a:pPr>
            <a:r>
              <a:rPr lang="en-US" b="true" sz="8151">
                <a:solidFill>
                  <a:srgbClr val="FFFFFF"/>
                </a:solidFill>
                <a:latin typeface="Poppins Bold"/>
                <a:ea typeface="Poppins Bold"/>
                <a:cs typeface="Poppins Bold"/>
                <a:sym typeface="Poppins Bold"/>
              </a:rPr>
              <a:t>Python Parsing</a:t>
            </a:r>
          </a:p>
        </p:txBody>
      </p:sp>
      <p:sp>
        <p:nvSpPr>
          <p:cNvPr name="TextBox 7" id="7"/>
          <p:cNvSpPr txBox="true"/>
          <p:nvPr/>
        </p:nvSpPr>
        <p:spPr>
          <a:xfrm rot="0">
            <a:off x="739531" y="2200156"/>
            <a:ext cx="16808938" cy="87947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Poppins"/>
                <a:ea typeface="Poppins"/>
                <a:cs typeface="Poppins"/>
                <a:sym typeface="Poppins"/>
              </a:rPr>
              <a:t>Mengubah response JSON dari REST API menjadi tabel terstruktur menggunakan Python sehingga data lebih mudah dianalisis.</a:t>
            </a:r>
          </a:p>
        </p:txBody>
      </p:sp>
      <p:sp>
        <p:nvSpPr>
          <p:cNvPr name="TextBox 8" id="8"/>
          <p:cNvSpPr txBox="true"/>
          <p:nvPr/>
        </p:nvSpPr>
        <p:spPr>
          <a:xfrm rot="0">
            <a:off x="9906889" y="3428964"/>
            <a:ext cx="7641580" cy="482282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Syntax Python :</a:t>
            </a:r>
          </a:p>
          <a:p>
            <a:pPr algn="l">
              <a:lnSpc>
                <a:spcPts val="3499"/>
              </a:lnSpc>
            </a:pPr>
            <a:r>
              <a:rPr lang="en-US" sz="2499">
                <a:solidFill>
                  <a:srgbClr val="FFFFFF"/>
                </a:solidFill>
                <a:latin typeface="Poppins"/>
                <a:ea typeface="Poppins"/>
                <a:cs typeface="Poppins"/>
                <a:sym typeface="Poppins"/>
              </a:rPr>
              <a:t>import json</a:t>
            </a:r>
          </a:p>
          <a:p>
            <a:pPr algn="l">
              <a:lnSpc>
                <a:spcPts val="3499"/>
              </a:lnSpc>
            </a:pPr>
            <a:r>
              <a:rPr lang="en-US" sz="2499">
                <a:solidFill>
                  <a:srgbClr val="FFFFFF"/>
                </a:solidFill>
                <a:latin typeface="Poppins"/>
                <a:ea typeface="Poppins"/>
                <a:cs typeface="Poppins"/>
                <a:sym typeface="Poppins"/>
              </a:rPr>
              <a:t>import pandas as pd</a:t>
            </a:r>
          </a:p>
          <a:p>
            <a:pPr algn="l">
              <a:lnSpc>
                <a:spcPts val="3499"/>
              </a:lnSpc>
            </a:pPr>
            <a:r>
              <a:rPr lang="en-US" sz="2499">
                <a:solidFill>
                  <a:srgbClr val="FFFFFF"/>
                </a:solidFill>
                <a:latin typeface="Poppins"/>
                <a:ea typeface="Poppins"/>
                <a:cs typeface="Poppins"/>
                <a:sym typeface="Poppins"/>
              </a:rPr>
              <a:t>with open("users.json", "r", encoding="utf-8") as f:</a:t>
            </a:r>
          </a:p>
          <a:p>
            <a:pPr algn="l">
              <a:lnSpc>
                <a:spcPts val="3499"/>
              </a:lnSpc>
            </a:pPr>
            <a:r>
              <a:rPr lang="en-US" sz="2499">
                <a:solidFill>
                  <a:srgbClr val="FFFFFF"/>
                </a:solidFill>
                <a:latin typeface="Poppins"/>
                <a:ea typeface="Poppins"/>
                <a:cs typeface="Poppins"/>
                <a:sym typeface="Poppins"/>
              </a:rPr>
              <a:t>  data = json.load(f)</a:t>
            </a:r>
          </a:p>
          <a:p>
            <a:pPr algn="l">
              <a:lnSpc>
                <a:spcPts val="3499"/>
              </a:lnSpc>
            </a:pPr>
            <a:r>
              <a:rPr lang="en-US" sz="2499">
                <a:solidFill>
                  <a:srgbClr val="FFFFFF"/>
                </a:solidFill>
                <a:latin typeface="Poppins"/>
                <a:ea typeface="Poppins"/>
                <a:cs typeface="Poppins"/>
                <a:sym typeface="Poppins"/>
              </a:rPr>
              <a:t>df = pd.DataFrame(data)</a:t>
            </a:r>
          </a:p>
          <a:p>
            <a:pPr algn="l">
              <a:lnSpc>
                <a:spcPts val="3499"/>
              </a:lnSpc>
            </a:pPr>
            <a:r>
              <a:rPr lang="en-US" sz="2499">
                <a:solidFill>
                  <a:srgbClr val="FFFFFF"/>
                </a:solidFill>
                <a:latin typeface="Poppins"/>
                <a:ea typeface="Poppins"/>
                <a:cs typeface="Poppins"/>
                <a:sym typeface="Poppins"/>
              </a:rPr>
              <a:t>print(df[["id", "name", "username", "email",”address”,”phone”]])</a:t>
            </a:r>
          </a:p>
          <a:p>
            <a:pPr algn="l">
              <a:lnSpc>
                <a:spcPts val="3499"/>
              </a:lnSpc>
            </a:pPr>
            <a:r>
              <a:rPr lang="en-US" sz="2499">
                <a:solidFill>
                  <a:srgbClr val="FFFFFF"/>
                </a:solidFill>
                <a:latin typeface="Poppins"/>
                <a:ea typeface="Poppins"/>
                <a:cs typeface="Poppins"/>
                <a:sym typeface="Poppins"/>
              </a:rPr>
              <a:t>df.to_csv("users.csv", index=False)</a:t>
            </a:r>
          </a:p>
          <a:p>
            <a:pPr algn="l">
              <a:lnSpc>
                <a:spcPts val="3499"/>
              </a:lnSpc>
            </a:pPr>
            <a:r>
              <a:rPr lang="en-US" sz="2499">
                <a:solidFill>
                  <a:srgbClr val="FFFFFF"/>
                </a:solidFill>
                <a:latin typeface="Poppins"/>
                <a:ea typeface="Poppins"/>
                <a:cs typeface="Poppins"/>
                <a:sym typeface="Poppins"/>
              </a:rPr>
              <a:t>print("File users.csv berhasil dibuat")</a:t>
            </a:r>
          </a:p>
          <a:p>
            <a:pPr algn="l">
              <a:lnSpc>
                <a:spcPts val="3499"/>
              </a:lnSpc>
              <a:spcBef>
                <a:spcPct val="0"/>
              </a:spcBef>
            </a:pPr>
          </a:p>
        </p:txBody>
      </p:sp>
      <p:sp>
        <p:nvSpPr>
          <p:cNvPr name="TextBox 9" id="9"/>
          <p:cNvSpPr txBox="true"/>
          <p:nvPr/>
        </p:nvSpPr>
        <p:spPr>
          <a:xfrm rot="0">
            <a:off x="739531" y="3422531"/>
            <a:ext cx="190901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Data JSON :</a:t>
            </a:r>
          </a:p>
        </p:txBody>
      </p:sp>
      <p:sp>
        <p:nvSpPr>
          <p:cNvPr name="Freeform 10" id="10"/>
          <p:cNvSpPr/>
          <p:nvPr/>
        </p:nvSpPr>
        <p:spPr>
          <a:xfrm flipH="false" flipV="false" rot="0">
            <a:off x="739531" y="4015165"/>
            <a:ext cx="7384706" cy="5243135"/>
          </a:xfrm>
          <a:custGeom>
            <a:avLst/>
            <a:gdLst/>
            <a:ahLst/>
            <a:cxnLst/>
            <a:rect r="r" b="b" t="t" l="l"/>
            <a:pathLst>
              <a:path h="5243135" w="7384706">
                <a:moveTo>
                  <a:pt x="0" y="0"/>
                </a:moveTo>
                <a:lnTo>
                  <a:pt x="7384706" y="0"/>
                </a:lnTo>
                <a:lnTo>
                  <a:pt x="7384706" y="5243135"/>
                </a:lnTo>
                <a:lnTo>
                  <a:pt x="0" y="5243135"/>
                </a:lnTo>
                <a:lnTo>
                  <a:pt x="0" y="0"/>
                </a:lnTo>
                <a:close/>
              </a:path>
            </a:pathLst>
          </a:custGeom>
          <a:blipFill>
            <a:blip r:embed="rId3"/>
            <a:stretch>
              <a:fillRect l="-16839" t="-5937"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101341" y="715226"/>
            <a:ext cx="8085318" cy="2153656"/>
          </a:xfrm>
          <a:prstGeom prst="rect">
            <a:avLst/>
          </a:prstGeom>
        </p:spPr>
        <p:txBody>
          <a:bodyPr anchor="t" rtlCol="false" tIns="0" lIns="0" bIns="0" rIns="0">
            <a:spAutoFit/>
          </a:bodyPr>
          <a:lstStyle/>
          <a:p>
            <a:pPr algn="ctr" marL="0" indent="0" lvl="0">
              <a:lnSpc>
                <a:spcPts val="7988"/>
              </a:lnSpc>
            </a:pPr>
            <a:r>
              <a:rPr lang="en-US" b="true" sz="8151">
                <a:solidFill>
                  <a:srgbClr val="FFFFFF"/>
                </a:solidFill>
                <a:latin typeface="Poppins Bold"/>
                <a:ea typeface="Poppins Bold"/>
                <a:cs typeface="Poppins Bold"/>
                <a:sym typeface="Poppins Bold"/>
              </a:rPr>
              <a:t>Output Python Parsing</a:t>
            </a:r>
          </a:p>
        </p:txBody>
      </p:sp>
      <p:sp>
        <p:nvSpPr>
          <p:cNvPr name="Freeform 7" id="7"/>
          <p:cNvSpPr/>
          <p:nvPr/>
        </p:nvSpPr>
        <p:spPr>
          <a:xfrm flipH="false" flipV="false" rot="0">
            <a:off x="2105651" y="4068114"/>
            <a:ext cx="14076698" cy="3202449"/>
          </a:xfrm>
          <a:custGeom>
            <a:avLst/>
            <a:gdLst/>
            <a:ahLst/>
            <a:cxnLst/>
            <a:rect r="r" b="b" t="t" l="l"/>
            <a:pathLst>
              <a:path h="3202449" w="14076698">
                <a:moveTo>
                  <a:pt x="0" y="0"/>
                </a:moveTo>
                <a:lnTo>
                  <a:pt x="14076698" y="0"/>
                </a:lnTo>
                <a:lnTo>
                  <a:pt x="14076698" y="3202449"/>
                </a:lnTo>
                <a:lnTo>
                  <a:pt x="0" y="3202449"/>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369309" y="2224743"/>
            <a:ext cx="15889991" cy="1682114"/>
          </a:xfrm>
          <a:prstGeom prst="rect">
            <a:avLst/>
          </a:prstGeom>
        </p:spPr>
        <p:txBody>
          <a:bodyPr anchor="t" rtlCol="false" tIns="0" lIns="0" bIns="0" rIns="0">
            <a:spAutoFit/>
          </a:bodyPr>
          <a:lstStyle/>
          <a:p>
            <a:pPr algn="l">
              <a:lnSpc>
                <a:spcPts val="3360"/>
              </a:lnSpc>
            </a:pPr>
            <a:r>
              <a:rPr lang="en-US" sz="2400">
                <a:solidFill>
                  <a:srgbClr val="FFFFFF"/>
                </a:solidFill>
                <a:latin typeface="Poppins"/>
                <a:ea typeface="Poppins"/>
                <a:cs typeface="Poppins"/>
                <a:sym typeface="Poppins"/>
              </a:rPr>
              <a:t>Traffic awal cukup banyak sehingga paket yang relevan sulit ditemukan. Solusi yang digunakan adalah menerapkan filter dns dan tls pada Wireshark sehingga paket yang berkaitan dengan komunikasi API dapat diidentifikasi dengan lebih mudah.</a:t>
            </a:r>
          </a:p>
          <a:p>
            <a:pPr algn="l">
              <a:lnSpc>
                <a:spcPts val="3360"/>
              </a:lnSpc>
              <a:spcBef>
                <a:spcPct val="0"/>
              </a:spcBef>
            </a:pPr>
          </a:p>
        </p:txBody>
      </p:sp>
      <p:sp>
        <p:nvSpPr>
          <p:cNvPr name="TextBox 4" id="4"/>
          <p:cNvSpPr txBox="true"/>
          <p:nvPr/>
        </p:nvSpPr>
        <p:spPr>
          <a:xfrm rot="0">
            <a:off x="1168678" y="847725"/>
            <a:ext cx="6872497" cy="1095375"/>
          </a:xfrm>
          <a:prstGeom prst="rect">
            <a:avLst/>
          </a:prstGeom>
        </p:spPr>
        <p:txBody>
          <a:bodyPr anchor="t" rtlCol="false" tIns="0" lIns="0" bIns="0" rIns="0">
            <a:spAutoFit/>
          </a:bodyPr>
          <a:lstStyle/>
          <a:p>
            <a:pPr algn="ctr" marL="0" indent="0" lvl="1">
              <a:lnSpc>
                <a:spcPts val="8400"/>
              </a:lnSpc>
              <a:spcBef>
                <a:spcPct val="0"/>
              </a:spcBef>
            </a:pPr>
            <a:r>
              <a:rPr lang="en-US" b="true" sz="6000">
                <a:solidFill>
                  <a:srgbClr val="FFFFFF"/>
                </a:solidFill>
                <a:latin typeface="Poppins Bold"/>
                <a:ea typeface="Poppins Bold"/>
                <a:cs typeface="Poppins Bold"/>
                <a:sym typeface="Poppins Bold"/>
              </a:rPr>
              <a:t>Troubleshooting</a:t>
            </a:r>
          </a:p>
        </p:txBody>
      </p:sp>
      <p:grpSp>
        <p:nvGrpSpPr>
          <p:cNvPr name="Group 5" id="5"/>
          <p:cNvGrpSpPr/>
          <p:nvPr/>
        </p:nvGrpSpPr>
        <p:grpSpPr>
          <a:xfrm rot="0">
            <a:off x="-560343" y="9889125"/>
            <a:ext cx="19408687" cy="996493"/>
            <a:chOff x="0" y="0"/>
            <a:chExt cx="5111753" cy="262451"/>
          </a:xfrm>
        </p:grpSpPr>
        <p:sp>
          <p:nvSpPr>
            <p:cNvPr name="Freeform 6" id="6"/>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7" id="7"/>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255366" y="769755"/>
            <a:ext cx="860834" cy="1002427"/>
          </a:xfrm>
          <a:custGeom>
            <a:avLst/>
            <a:gdLst/>
            <a:ahLst/>
            <a:cxnLst/>
            <a:rect r="r" b="b" t="t" l="l"/>
            <a:pathLst>
              <a:path h="1002427" w="860834">
                <a:moveTo>
                  <a:pt x="0" y="0"/>
                </a:moveTo>
                <a:lnTo>
                  <a:pt x="860835" y="0"/>
                </a:lnTo>
                <a:lnTo>
                  <a:pt x="860835" y="1002428"/>
                </a:lnTo>
                <a:lnTo>
                  <a:pt x="0" y="1002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30871" y="1028700"/>
            <a:ext cx="860834" cy="1002427"/>
          </a:xfrm>
          <a:custGeom>
            <a:avLst/>
            <a:gdLst/>
            <a:ahLst/>
            <a:cxnLst/>
            <a:rect r="r" b="b" t="t" l="l"/>
            <a:pathLst>
              <a:path h="1002427" w="860834">
                <a:moveTo>
                  <a:pt x="0" y="0"/>
                </a:moveTo>
                <a:lnTo>
                  <a:pt x="860835" y="0"/>
                </a:lnTo>
                <a:lnTo>
                  <a:pt x="860835"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168678" y="3725882"/>
            <a:ext cx="5274557" cy="1095375"/>
          </a:xfrm>
          <a:prstGeom prst="rect">
            <a:avLst/>
          </a:prstGeom>
        </p:spPr>
        <p:txBody>
          <a:bodyPr anchor="t" rtlCol="false" tIns="0" lIns="0" bIns="0" rIns="0">
            <a:spAutoFit/>
          </a:bodyPr>
          <a:lstStyle/>
          <a:p>
            <a:pPr algn="ctr" marL="0" indent="0" lvl="1">
              <a:lnSpc>
                <a:spcPts val="8400"/>
              </a:lnSpc>
              <a:spcBef>
                <a:spcPct val="0"/>
              </a:spcBef>
            </a:pPr>
            <a:r>
              <a:rPr lang="en-US" b="true" sz="6000">
                <a:solidFill>
                  <a:srgbClr val="FFFFFF"/>
                </a:solidFill>
                <a:latin typeface="Poppins Bold"/>
                <a:ea typeface="Poppins Bold"/>
                <a:cs typeface="Poppins Bold"/>
                <a:sym typeface="Poppins Bold"/>
              </a:rPr>
              <a:t>Kesimpulan</a:t>
            </a:r>
          </a:p>
        </p:txBody>
      </p:sp>
      <p:sp>
        <p:nvSpPr>
          <p:cNvPr name="TextBox 11" id="11"/>
          <p:cNvSpPr txBox="true"/>
          <p:nvPr/>
        </p:nvSpPr>
        <p:spPr>
          <a:xfrm rot="0">
            <a:off x="1369309" y="4754582"/>
            <a:ext cx="15889991" cy="3358514"/>
          </a:xfrm>
          <a:prstGeom prst="rect">
            <a:avLst/>
          </a:prstGeom>
        </p:spPr>
        <p:txBody>
          <a:bodyPr anchor="t" rtlCol="false" tIns="0" lIns="0" bIns="0" rIns="0">
            <a:spAutoFit/>
          </a:bodyPr>
          <a:lstStyle/>
          <a:p>
            <a:pPr algn="l">
              <a:lnSpc>
                <a:spcPts val="3360"/>
              </a:lnSpc>
            </a:pPr>
          </a:p>
          <a:p>
            <a:pPr algn="l">
              <a:lnSpc>
                <a:spcPts val="3360"/>
              </a:lnSpc>
              <a:spcBef>
                <a:spcPct val="0"/>
              </a:spcBef>
            </a:pPr>
            <a:r>
              <a:rPr lang="en-US" sz="2400">
                <a:solidFill>
                  <a:srgbClr val="FFFFFF"/>
                </a:solidFill>
                <a:latin typeface="Poppins"/>
                <a:ea typeface="Poppins"/>
                <a:cs typeface="Poppins"/>
                <a:sym typeface="Poppins"/>
              </a:rPr>
              <a:t>Praktikum berhasil menunjukkan proses komunikasi data antara client dan server melalui HTTP. Pengujian API menggunakan Postman menghasilkan response sukses (200 OK dan 201 Created), sementara Wireshark menunjukkan tahapan komunikasi jaringan seperti TCP Handshake, HTTP Request/Response, dan TCP Retransmission. Data JSON yang diterima kemudian dianalisis dan diparsing menggunakan Python menjadi DataFrame atau CSV, sehingga lebih mudah dibaca dan diolah. Praktikum ini memberikan pemahaman mengenai hubungan antara TCP, HTTP, JSON, packet capture, dan parsing data dalam sistem komunikasi modern.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615651" y="3178002"/>
            <a:ext cx="9056698" cy="1803401"/>
          </a:xfrm>
          <a:prstGeom prst="rect">
            <a:avLst/>
          </a:prstGeom>
        </p:spPr>
        <p:txBody>
          <a:bodyPr anchor="t" rtlCol="false" tIns="0" lIns="0" bIns="0" rIns="0">
            <a:spAutoFit/>
          </a:bodyPr>
          <a:lstStyle/>
          <a:p>
            <a:pPr algn="ctr">
              <a:lnSpc>
                <a:spcPts val="13999"/>
              </a:lnSpc>
              <a:spcBef>
                <a:spcPct val="0"/>
              </a:spcBef>
            </a:pPr>
            <a:r>
              <a:rPr lang="en-US" b="true" sz="9999">
                <a:solidFill>
                  <a:srgbClr val="FFFFFF"/>
                </a:solidFill>
                <a:latin typeface="Poppins Bold"/>
                <a:ea typeface="Poppins Bold"/>
                <a:cs typeface="Poppins Bold"/>
                <a:sym typeface="Poppins Bold"/>
              </a:rPr>
              <a:t>Th</a:t>
            </a:r>
            <a:r>
              <a:rPr lang="en-US" b="true" sz="9999">
                <a:solidFill>
                  <a:srgbClr val="FFFFFF"/>
                </a:solidFill>
                <a:latin typeface="Poppins Bold"/>
                <a:ea typeface="Poppins Bold"/>
                <a:cs typeface="Poppins Bold"/>
                <a:sym typeface="Poppins Bold"/>
              </a:rPr>
              <a:t>ank you</a:t>
            </a:r>
          </a:p>
        </p:txBody>
      </p:sp>
      <p:grpSp>
        <p:nvGrpSpPr>
          <p:cNvPr name="Group 7" id="7"/>
          <p:cNvGrpSpPr/>
          <p:nvPr/>
        </p:nvGrpSpPr>
        <p:grpSpPr>
          <a:xfrm rot="0">
            <a:off x="5670413" y="5384437"/>
            <a:ext cx="6947174" cy="1438812"/>
            <a:chOff x="0" y="0"/>
            <a:chExt cx="1829708" cy="378946"/>
          </a:xfrm>
        </p:grpSpPr>
        <p:sp>
          <p:nvSpPr>
            <p:cNvPr name="Freeform 8" id="8"/>
            <p:cNvSpPr/>
            <p:nvPr/>
          </p:nvSpPr>
          <p:spPr>
            <a:xfrm flipH="false" flipV="false" rot="0">
              <a:off x="0" y="0"/>
              <a:ext cx="1829708" cy="378946"/>
            </a:xfrm>
            <a:custGeom>
              <a:avLst/>
              <a:gdLst/>
              <a:ahLst/>
              <a:cxnLst/>
              <a:rect r="r" b="b" t="t" l="l"/>
              <a:pathLst>
                <a:path h="378946" w="1829708">
                  <a:moveTo>
                    <a:pt x="111440" y="0"/>
                  </a:moveTo>
                  <a:lnTo>
                    <a:pt x="1718269" y="0"/>
                  </a:lnTo>
                  <a:cubicBezTo>
                    <a:pt x="1779815" y="0"/>
                    <a:pt x="1829708" y="49893"/>
                    <a:pt x="1829708" y="111440"/>
                  </a:cubicBezTo>
                  <a:lnTo>
                    <a:pt x="1829708" y="267506"/>
                  </a:lnTo>
                  <a:cubicBezTo>
                    <a:pt x="1829708" y="297062"/>
                    <a:pt x="1817968" y="325407"/>
                    <a:pt x="1797068" y="346306"/>
                  </a:cubicBezTo>
                  <a:cubicBezTo>
                    <a:pt x="1776169" y="367205"/>
                    <a:pt x="1747824" y="378946"/>
                    <a:pt x="1718269" y="378946"/>
                  </a:cubicBezTo>
                  <a:lnTo>
                    <a:pt x="111440" y="378946"/>
                  </a:lnTo>
                  <a:cubicBezTo>
                    <a:pt x="81884" y="378946"/>
                    <a:pt x="53539" y="367205"/>
                    <a:pt x="32640" y="346306"/>
                  </a:cubicBezTo>
                  <a:cubicBezTo>
                    <a:pt x="11741" y="325407"/>
                    <a:pt x="0" y="297062"/>
                    <a:pt x="0" y="267506"/>
                  </a:cubicBezTo>
                  <a:lnTo>
                    <a:pt x="0" y="111440"/>
                  </a:lnTo>
                  <a:cubicBezTo>
                    <a:pt x="0" y="81884"/>
                    <a:pt x="11741" y="53539"/>
                    <a:pt x="32640" y="32640"/>
                  </a:cubicBezTo>
                  <a:cubicBezTo>
                    <a:pt x="53539" y="11741"/>
                    <a:pt x="81884" y="0"/>
                    <a:pt x="111440" y="0"/>
                  </a:cubicBezTo>
                  <a:close/>
                </a:path>
              </a:pathLst>
            </a:custGeom>
            <a:ln w="85725" cap="rnd">
              <a:solidFill>
                <a:srgbClr val="5CA3B2"/>
              </a:solidFill>
              <a:prstDash val="solid"/>
              <a:round/>
            </a:ln>
          </p:spPr>
        </p:sp>
        <p:sp>
          <p:nvSpPr>
            <p:cNvPr name="TextBox 9" id="9"/>
            <p:cNvSpPr txBox="true"/>
            <p:nvPr/>
          </p:nvSpPr>
          <p:spPr>
            <a:xfrm>
              <a:off x="0" y="-57150"/>
              <a:ext cx="1829708" cy="436096"/>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6101144" y="5733955"/>
            <a:ext cx="6085713" cy="635000"/>
          </a:xfrm>
          <a:prstGeom prst="rect">
            <a:avLst/>
          </a:prstGeom>
        </p:spPr>
        <p:txBody>
          <a:bodyPr anchor="t" rtlCol="false" tIns="0" lIns="0" bIns="0" rIns="0">
            <a:spAutoFit/>
          </a:bodyPr>
          <a:lstStyle/>
          <a:p>
            <a:pPr algn="ctr">
              <a:lnSpc>
                <a:spcPts val="4900"/>
              </a:lnSpc>
              <a:spcBef>
                <a:spcPct val="0"/>
              </a:spcBef>
            </a:pPr>
            <a:r>
              <a:rPr lang="en-US" sz="3500">
                <a:solidFill>
                  <a:srgbClr val="FFFFFF"/>
                </a:solidFill>
                <a:latin typeface="Poppins"/>
                <a:ea typeface="Poppins"/>
                <a:cs typeface="Poppins"/>
                <a:sym typeface="Poppins"/>
              </a:rPr>
              <a:t>for yo</a:t>
            </a:r>
            <a:r>
              <a:rPr lang="en-US" sz="3500">
                <a:solidFill>
                  <a:srgbClr val="FFFFFF"/>
                </a:solidFill>
                <a:latin typeface="Poppins"/>
                <a:ea typeface="Poppins"/>
                <a:cs typeface="Poppins"/>
                <a:sym typeface="Poppins"/>
              </a:rPr>
              <a:t>ur attention</a:t>
            </a:r>
          </a:p>
        </p:txBody>
      </p:sp>
      <p:sp>
        <p:nvSpPr>
          <p:cNvPr name="Freeform 11" id="11"/>
          <p:cNvSpPr/>
          <p:nvPr/>
        </p:nvSpPr>
        <p:spPr>
          <a:xfrm flipH="false" flipV="false" rot="0">
            <a:off x="7535564" y="1028700"/>
            <a:ext cx="642386" cy="729984"/>
          </a:xfrm>
          <a:custGeom>
            <a:avLst/>
            <a:gdLst/>
            <a:ahLst/>
            <a:cxnLst/>
            <a:rect r="r" b="b" t="t" l="l"/>
            <a:pathLst>
              <a:path h="729984" w="642386">
                <a:moveTo>
                  <a:pt x="0" y="0"/>
                </a:moveTo>
                <a:lnTo>
                  <a:pt x="642387" y="0"/>
                </a:lnTo>
                <a:lnTo>
                  <a:pt x="642387" y="729984"/>
                </a:lnTo>
                <a:lnTo>
                  <a:pt x="0" y="7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7714723" y="1139692"/>
            <a:ext cx="3037713" cy="441325"/>
          </a:xfrm>
          <a:prstGeom prst="rect">
            <a:avLst/>
          </a:prstGeom>
        </p:spPr>
        <p:txBody>
          <a:bodyPr anchor="t" rtlCol="false" tIns="0" lIns="0" bIns="0" rIns="0">
            <a:spAutoFit/>
          </a:bodyPr>
          <a:lstStyle/>
          <a:p>
            <a:pPr algn="r">
              <a:lnSpc>
                <a:spcPts val="3499"/>
              </a:lnSpc>
              <a:spcBef>
                <a:spcPct val="0"/>
              </a:spcBef>
            </a:pPr>
            <a:r>
              <a:rPr lang="en-US" sz="2499">
                <a:solidFill>
                  <a:srgbClr val="FFFFFF"/>
                </a:solidFill>
                <a:latin typeface="Poppins"/>
                <a:ea typeface="Poppins"/>
                <a:cs typeface="Poppins"/>
                <a:sym typeface="Poppins"/>
              </a:rPr>
              <a:t>S</a:t>
            </a:r>
            <a:r>
              <a:rPr lang="en-US" sz="2499">
                <a:solidFill>
                  <a:srgbClr val="FFFFFF"/>
                </a:solidFill>
                <a:latin typeface="Poppins"/>
                <a:ea typeface="Poppins"/>
                <a:cs typeface="Poppins"/>
                <a:sym typeface="Poppins"/>
              </a:rPr>
              <a:t>tudio Shodwe</a:t>
            </a:r>
          </a:p>
        </p:txBody>
      </p:sp>
      <p:sp>
        <p:nvSpPr>
          <p:cNvPr name="TextBox 13" id="13"/>
          <p:cNvSpPr txBox="true"/>
          <p:nvPr/>
        </p:nvSpPr>
        <p:spPr>
          <a:xfrm rot="0">
            <a:off x="6688007" y="8816975"/>
            <a:ext cx="4911986" cy="441325"/>
          </a:xfrm>
          <a:prstGeom prst="rect">
            <a:avLst/>
          </a:prstGeom>
        </p:spPr>
        <p:txBody>
          <a:bodyPr anchor="t" rtlCol="false" tIns="0" lIns="0" bIns="0" rIns="0">
            <a:spAutoFit/>
          </a:bodyPr>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www.reallygreatsite.com</a:t>
            </a:r>
          </a:p>
        </p:txBody>
      </p:sp>
      <p:sp>
        <p:nvSpPr>
          <p:cNvPr name="Freeform 14" id="14"/>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028700"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DAHMIU61V-I</dc:identifier>
  <dcterms:modified xsi:type="dcterms:W3CDTF">2011-08-01T06:04:30Z</dcterms:modified>
  <cp:revision>1</cp:revision>
  <dc:title>UTS_CP_Reguler_Kelompok01_Presentation</dc:title>
</cp:coreProperties>
</file>